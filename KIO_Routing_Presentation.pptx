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1 - 0:45 of a 2:15 chapter.</a:t>
            </a:r>
          </a:p>
          <a:p/>
          <a:p>
            <a:r>
              <a:t>KIO is the chat entry point to two specialist agents: support handles problems, complaints and existing requests; sales handles new purchases, packages and quotes. Our block is the highlighted one in the middle: a message goes in, a routing flag comes out, 0 for support and 1 for sales, and KIO uses that flag to call the agent. Routing picks the workflow; retrieval then finds information inside it, so a wrong route means the wrong tools and the wrong knowledge base and the answer cannot recover. We built this router twice and compared the two on the same flag.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1 - 0:50.</a:t>
            </a:r>
          </a:p>
          <a:p/>
          <a:p>
            <a:r>
              <a:t>Sixty synthetic English messages, written as thirty intent groups: each group is a base message plus a paraphrase of it. Thirty support, thirty sales. Three categories on purpose - twenty-four plain, twenty negation, sixteen mixed intent - and they are written so that keywords mislead: support messages that say upgrade and premium package, sales messages that say nothing is wrong. The labeling guideline was agreed before any model ran, and the important line is the last one: mixed intent with an unresolved problem is support. We split forty train, twenty test, balanced by class, at group level, so a paraphrase never lands on the other side of the split.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1 - 0:40.</a:t>
            </a:r>
          </a:p>
          <a:p/>
          <a:p>
            <a:r>
              <a:t>Six real rows from the dataset. Notice id 13 and id 43: both are negations, and the surface words point the wrong way. Id 25 is mixed intent - the customer wants to buy a second license but has an unresolved error, so by our guideline it is support.</a:t>
            </a:r>
          </a:p>
          <a:p/>
          <a:p>
            <a:r>
              <a:t>The conceptual difference, one line each. The classifier learns from our labels: it turns the message into numbers and fits a boundary, and it knows only what the forty training messages taught it. The decision model already understands English: we give it the message plus routing instructions in words and it returns a typed decision, with zero training examples. We tune wording, not weights.</a:t>
            </a:r>
          </a:p>
          <a:p/>
          <a:p>
            <a:r>
              <a:t>HAND-OFF: 'Student 2 will show the decision model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2 - 0:50 of a 2:30 chapter.</a:t>
            </a:r>
          </a:p>
          <a:p/>
          <a:p>
            <a:r>
              <a:t>A Decision API like Jev from TypeSafe AI takes a message plus instructions and returns a typed decision. We had no paid API, so we used the open-source equivalent with our own structured-output wrapper. The model is facebook/bart-large-mnli: BART-large, four hundred and seven million parameters, fine-tuned on MultiNLI. The weights are MIT licensed. Setup is a local HuggingFace cache with HF_HUB_OFFLINE set to one - CPU only, no API key, no network call, and no training on our data. The method is zero-shot via natural-language inference: the message is the premise, each label becomes a hypothesis, and the entailment scores are compared.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2 - 0:50.</a:t>
            </a:r>
          </a:p>
          <a:p/>
          <a:p>
            <a:r>
              <a:t>The instructions are the hypothesis template plus the two label descriptions, with a decision threshold of nought point four one. We wrote four instruction variants and picked one on the training split only: nought point eight seven five, nought point seven five, nought point seven five, nought point six seven five. Say this out loud: wording is worth twenty points - that is the key insight of this chapter.</a:t>
            </a:r>
          </a:p>
          <a:p/>
          <a:p>
            <a:r>
              <a:t>On the output side, every answer is parsed into a decision, a confidence and the two scores, and schema-checked: the decision must be in the enum, confidence a float between zero and one, and the scores must cover exactly the two labels and sum to one. Zero of sixty outputs failed validation. There is also an abstention band of plus or minus nought point nought five around the threshold: inside it the wrapper returns uncertain and falls back to support, the safe default. Three of sixty abstained, none of them in the test split.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2 - 0:50.</a:t>
            </a:r>
          </a:p>
          <a:p/>
          <a:p>
            <a:r>
              <a:t>Test accuracy nought point nine five, macro F1 the same, on twenty test messages. Across all sixty messages it is nought point eight five - say both, because the test half is the easier one. The confusion matrix is ten, zero, one, nine: it never sent a customer with a real problem to sales. By category: plain eight of eight, negation seven of eight, mixed four of four.</a:t>
            </a:r>
          </a:p>
          <a:p/>
          <a:p>
            <a:r>
              <a:t>These are two real outputs, copied from results slash zeroshot_predictions.csv - this is what the router actually returns, not a sketch. Id 33 is the easy case. Id 25 is the win: mixed intent, the words buy and second license are right there, and it still routes to support because the customer has an unresolved error. That is exactly the rule we wrote in the labeling guideline, obeyed by a model we never trained.</a:t>
            </a:r>
          </a:p>
          <a:p/>
          <a:p>
            <a:r>
              <a:t>One error: id 43, 'Nothing is wrong with my service, I just want a faster plan.' It scored nought point nought seven for sales - confidently wrong, outside the abstention band. The lesson is that validation guarantees the shape of the answer, never its truth. Cost: five hundred and forty-six milliseconds per message on CPU.</a:t>
            </a:r>
          </a:p>
          <a:p/>
          <a:p>
            <a:r>
              <a:t>HAND-OFF: 'Now the classical approach, and the head-to-head.'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3 - 0:45 of a 2:45 chapter.</a:t>
            </a:r>
          </a:p>
          <a:p/>
          <a:p>
            <a:r>
              <a:t>The features have to be numeric. We tried two representations: TF-IDF word n-grams, and eleven hand-crafted features - length in words and characters, whether there is a question mark, support-lexicon hits per ten words, sales-lexicon hits, their margin, negation hits, existing-service hits, new-purchase hits, money words, and a first-person request flag. The lexicons were fixed a priori from the routing definition.</a:t>
            </a:r>
          </a:p>
          <a:p/>
          <a:p>
            <a:r>
              <a:t>For the model we searched exactly what the brief allows: linear SVM, degree-2 polynomial-kernel SVM, and logistic regression on degree-2 polynomial features. Fifty configurations in total, selected by five-fold grouped cross-validation on the forty training messages only, with paraphrase pairs kept in the same fold. The winner was the eleven hand-crafted features with a degree-2 polynomial-kernel SVM at C equals one, cross-validation accuracy nought point eight two five. TF-IDF came last at nought point seven two five - with forty messages there is almost no vocabulary overlap with unseen 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3 - 0:45.</a:t>
            </a:r>
          </a:p>
          <a:p/>
          <a:p>
            <a:r>
              <a:t>On the left is the boundary, drawn on two readable axes: support-lexicon hits against sales-lexicon hits. The same boundary for a PCA projection of the full feature space is in ml_decision_boundary.png.</a:t>
            </a:r>
          </a:p>
          <a:p/>
          <a:p>
            <a:r>
              <a:t>Train accuracy nought point nine seven five, test accuracy nought point six zero zero. That gap is overfitting: a degree-2 kernel separates forty points easily, and cross-validation on forty points is too noisy to catch it.</a:t>
            </a:r>
          </a:p>
          <a:p/>
          <a:p>
            <a:r>
              <a:t>On the right are its actual outputs: the signed decision score of all twenty test messages, one bar each, coloured by true label, with the misrouted ones marked. Point at the bars sitting just past zero - ids 12 and 17 are support messages pushed over the line by a hair.</a:t>
            </a:r>
          </a:p>
          <a:p/>
          <a:p>
            <a:r>
              <a:t>Permutation importance tells us why: the strongest single feature is the question mark, and negation is almost unused. That one fact explains the errors on the next slide. On speed it wins easily - nought point two three milliseconds a message.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3 - 0:45.</a:t>
            </a:r>
          </a:p>
          <a:p/>
          <a:p>
            <a:r>
              <a:t>Side by side on the same twenty test messages. Accuracy nought point six against nought point nine five. The row that matters for the business is recall on support: nought point four against one point zero - the classifier sends six of ten customers with a real problem to the sales team.</a:t>
            </a:r>
          </a:p>
          <a:p/>
          <a:p>
            <a:r>
              <a:t>The two routers agree on sixty-five per cent of test messages. Where they disagree, the decision model is right seven times and the classifier zero. An exact McNemar test gives p equals nought point nought one five six - significant, even at twenty messages.</a:t>
            </a:r>
          </a:p>
          <a:p/>
          <a:p>
            <a:r>
              <a:t>The error pattern is consistent: the classifier breaks on negation and mixed intent. Take 'I did not order this upgrade, so why am I being billed for it?' - it sees upgrade, order and a question mark, and routes to sales. The decision model reads the sentence and routes to support.</a:t>
            </a:r>
          </a:p>
          <a:p/>
          <a:p>
            <a:r>
              <a:t>To be fair to the classifier: the top six cross-validation configurations score between nought point six and nought point seven five on test, and the learning curve is still rising at forty messages. It is not broken - it is starved of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3 - 0:30, the close.</a:t>
            </a:r>
          </a:p>
          <a:p/>
          <a:p>
            <a:r>
              <a:t>Our recommendation is to deploy the decision model now. It is better where it matters - nought point nine five against nought point six, and the gap is statistically significant. It never misroutes a real problem in our test. It needs no labelled data. And the wrapper makes the flag safe to use in a pipeline: typed output, confidence exposed, and when it is unsure it abstains to support.</a:t>
            </a:r>
          </a:p>
          <a:p/>
          <a:p>
            <a:r>
              <a:t>What we accept: five hundred and forty-six milliseconds a message and about one and a half gigabytes of memory. It is MIT licensed and fully offline, so there is no per-call fee and no customer data leaves the machine. The instruction wording has to be version-controlled, because it is worth twenty points.</a:t>
            </a:r>
          </a:p>
          <a:p/>
          <a:p>
            <a:r>
              <a:t>The path forward is to log every decision with its confidence, let agents flag misroutes, and after a few thousand real labelled messages retrain the classifier on that log and re-run this exact comparison.</a:t>
            </a:r>
          </a:p>
          <a:p/>
          <a:p>
            <a:r>
              <a:t>And the caveat we state ourselves: twenty test messages is a small sample - the same model scores nought point eight five over all sixty. The ranking is solid; the exact numbers would move on a larger set.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3 - no extra speaking time; this slide is on screen while the recommendation lands and stays up through questions.</a:t>
            </a:r>
          </a:p>
          <a:p/>
          <a:p>
            <a:r>
              <a:t>The brief asks us to present all work, results AND sources, so these are on screen: the project brief, the model card and its MIT license, the two papers behind the zero-shot method and its training corpus, Dietterich for the paired significance test, the exact software versions, the repository holding the code and all saved results, and a note that the dataset is synthetic and contains no customer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20624"/>
            <a:ext cx="11094415" cy="566928"/>
          </a:xfrm>
          <a:prstGeom prst="rect">
            <a:avLst/>
          </a:prstGeom>
          <a:noFill/>
        </p:spPr>
        <p:txBody>
          <a:bodyPr wrap="square" lIns="0" rIns="0" tIns="0" bIns="0" anchor="t">
            <a:spAutoFit/>
          </a:bodyPr>
          <a:lstStyle/>
          <a:p>
            <a:pPr algn="l"/>
            <a:r>
              <a:rPr sz="3200" b="1" i="0">
                <a:solidFill>
                  <a:srgbClr val="16263F"/>
                </a:solidFill>
                <a:latin typeface="Calibri"/>
              </a:rPr>
              <a:t>The routing problem</a:t>
            </a:r>
          </a:p>
        </p:txBody>
      </p:sp>
      <p:sp>
        <p:nvSpPr>
          <p:cNvPr id="3" name="Rounded Rectangle 2"/>
          <p:cNvSpPr/>
          <p:nvPr/>
        </p:nvSpPr>
        <p:spPr>
          <a:xfrm>
            <a:off x="10643057" y="457200"/>
            <a:ext cx="999998" cy="310896"/>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Student 1</a:t>
            </a:r>
          </a:p>
        </p:txBody>
      </p:sp>
      <p:sp>
        <p:nvSpPr>
          <p:cNvPr id="4" name="Rounded Rectangle 3"/>
          <p:cNvSpPr/>
          <p:nvPr/>
        </p:nvSpPr>
        <p:spPr>
          <a:xfrm>
            <a:off x="548640" y="2020824"/>
            <a:ext cx="2096141" cy="841248"/>
          </a:xfrm>
          <a:prstGeom prst="roundRect">
            <a:avLst/>
          </a:prstGeom>
          <a:solidFill>
            <a:srgbClr val="FFFFFF"/>
          </a:solidFill>
          <a:ln w="15875">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2224532"/>
            <a:ext cx="1913261" cy="470407"/>
          </a:xfrm>
          <a:prstGeom prst="rect">
            <a:avLst/>
          </a:prstGeom>
          <a:noFill/>
        </p:spPr>
        <p:txBody>
          <a:bodyPr wrap="square" lIns="0" rIns="0" tIns="0" bIns="0" anchor="t">
            <a:spAutoFit/>
          </a:bodyPr>
          <a:lstStyle/>
          <a:p>
            <a:pPr algn="ctr"/>
            <a:r>
              <a:rPr sz="1400" b="1" i="0">
                <a:solidFill>
                  <a:srgbClr val="4A556B"/>
                </a:solidFill>
                <a:latin typeface="Calibri"/>
              </a:rPr>
              <a:t>KIO chat</a:t>
            </a:r>
          </a:p>
          <a:p>
            <a:pPr algn="ctr"/>
            <a:r>
              <a:rPr sz="1400" b="1" i="0">
                <a:solidFill>
                  <a:srgbClr val="4A556B"/>
                </a:solidFill>
                <a:latin typeface="Calibri"/>
              </a:rPr>
              <a:t>message</a:t>
            </a:r>
          </a:p>
        </p:txBody>
      </p:sp>
      <p:sp>
        <p:nvSpPr>
          <p:cNvPr id="6" name="Right Arrow 5"/>
          <p:cNvSpPr/>
          <p:nvPr/>
        </p:nvSpPr>
        <p:spPr>
          <a:xfrm>
            <a:off x="2690501" y="2363724"/>
            <a:ext cx="219456" cy="155448"/>
          </a:xfrm>
          <a:prstGeom prst="rightArrow">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55677" y="1929384"/>
            <a:ext cx="2688528" cy="1024128"/>
          </a:xfrm>
          <a:prstGeom prst="roundRect">
            <a:avLst/>
          </a:prstGeom>
          <a:solidFill>
            <a:srgbClr val="16263F"/>
          </a:solidFill>
          <a:ln w="3175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047117" y="2039112"/>
            <a:ext cx="2505648" cy="841248"/>
          </a:xfrm>
          <a:prstGeom prst="rect">
            <a:avLst/>
          </a:prstGeom>
          <a:noFill/>
        </p:spPr>
        <p:txBody>
          <a:bodyPr wrap="square" lIns="0" rIns="0" tIns="0" bIns="0" anchor="t">
            <a:spAutoFit/>
          </a:bodyPr>
          <a:lstStyle/>
          <a:p>
            <a:pPr algn="ctr"/>
            <a:r>
              <a:rPr sz="1400" b="1" i="0">
                <a:solidFill>
                  <a:srgbClr val="FFFFFF"/>
                </a:solidFill>
                <a:latin typeface="Calibri"/>
              </a:rPr>
              <a:t>OUR BLOCK</a:t>
            </a:r>
          </a:p>
          <a:p>
            <a:pPr algn="ctr"/>
            <a:r>
              <a:rPr sz="1400" b="1" i="0">
                <a:solidFill>
                  <a:srgbClr val="FFFFFF"/>
                </a:solidFill>
                <a:latin typeface="Calibri"/>
              </a:rPr>
              <a:t>Intent router</a:t>
            </a:r>
          </a:p>
          <a:p>
            <a:pPr algn="ctr"/>
            <a:r>
              <a:rPr sz="1400" b="1" i="0">
                <a:solidFill>
                  <a:srgbClr val="FFFFFF"/>
                </a:solidFill>
                <a:latin typeface="Calibri"/>
              </a:rPr>
              <a:t>flag 0 or 1</a:t>
            </a:r>
          </a:p>
        </p:txBody>
      </p:sp>
      <p:sp>
        <p:nvSpPr>
          <p:cNvPr id="9" name="Right Arrow 8"/>
          <p:cNvSpPr/>
          <p:nvPr/>
        </p:nvSpPr>
        <p:spPr>
          <a:xfrm>
            <a:off x="5689925" y="1568196"/>
            <a:ext cx="219456" cy="155448"/>
          </a:xfrm>
          <a:prstGeom prst="rightArrow">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955101" y="1225296"/>
            <a:ext cx="2323982" cy="841248"/>
          </a:xfrm>
          <a:prstGeom prst="roundRect">
            <a:avLst/>
          </a:prstGeom>
          <a:solidFill>
            <a:srgbClr val="FFFFFF"/>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46541" y="1389888"/>
            <a:ext cx="2141102" cy="566928"/>
          </a:xfrm>
          <a:prstGeom prst="rect">
            <a:avLst/>
          </a:prstGeom>
          <a:noFill/>
        </p:spPr>
        <p:txBody>
          <a:bodyPr wrap="square" lIns="0" rIns="0" tIns="0" bIns="0" anchor="t">
            <a:spAutoFit/>
          </a:bodyPr>
          <a:lstStyle/>
          <a:p>
            <a:pPr algn="ctr"/>
            <a:r>
              <a:rPr sz="1400" b="1" i="0">
                <a:solidFill>
                  <a:srgbClr val="2A78D6"/>
                </a:solidFill>
                <a:latin typeface="Calibri"/>
              </a:rPr>
              <a:t>Support agent</a:t>
            </a:r>
          </a:p>
          <a:p>
            <a:pPr algn="ctr"/>
            <a:r>
              <a:rPr sz="1400" b="1" i="0">
                <a:solidFill>
                  <a:srgbClr val="2A78D6"/>
                </a:solidFill>
                <a:latin typeface="Calibri"/>
              </a:rPr>
              <a:t>flag 0</a:t>
            </a:r>
          </a:p>
        </p:txBody>
      </p:sp>
      <p:sp>
        <p:nvSpPr>
          <p:cNvPr id="12" name="Right Arrow 11"/>
          <p:cNvSpPr/>
          <p:nvPr/>
        </p:nvSpPr>
        <p:spPr>
          <a:xfrm>
            <a:off x="8324804" y="1568196"/>
            <a:ext cx="219456" cy="155448"/>
          </a:xfrm>
          <a:prstGeom prst="rightArrow">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589980" y="1225296"/>
            <a:ext cx="3053074" cy="841248"/>
          </a:xfrm>
          <a:prstGeom prst="roundRect">
            <a:avLst/>
          </a:prstGeom>
          <a:solidFill>
            <a:srgbClr val="FFFFFF"/>
          </a:solidFill>
          <a:ln w="15875">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81420" y="1429004"/>
            <a:ext cx="2870194" cy="470407"/>
          </a:xfrm>
          <a:prstGeom prst="rect">
            <a:avLst/>
          </a:prstGeom>
          <a:noFill/>
        </p:spPr>
        <p:txBody>
          <a:bodyPr wrap="square" lIns="0" rIns="0" tIns="0" bIns="0" anchor="t">
            <a:spAutoFit/>
          </a:bodyPr>
          <a:lstStyle/>
          <a:p>
            <a:pPr algn="ctr"/>
            <a:r>
              <a:rPr sz="1400" b="0" i="0">
                <a:solidFill>
                  <a:srgbClr val="4A556B"/>
                </a:solidFill>
                <a:latin typeface="Calibri"/>
              </a:rPr>
              <a:t>Search tools + LLM</a:t>
            </a:r>
          </a:p>
          <a:p>
            <a:pPr algn="ctr"/>
            <a:r>
              <a:rPr sz="1400" b="0" i="0">
                <a:solidFill>
                  <a:srgbClr val="4A556B"/>
                </a:solidFill>
                <a:latin typeface="Calibri"/>
              </a:rPr>
              <a:t>Policies / FAQs</a:t>
            </a:r>
          </a:p>
        </p:txBody>
      </p:sp>
      <p:sp>
        <p:nvSpPr>
          <p:cNvPr id="15" name="Right Arrow 14"/>
          <p:cNvSpPr/>
          <p:nvPr/>
        </p:nvSpPr>
        <p:spPr>
          <a:xfrm>
            <a:off x="5689925" y="3159252"/>
            <a:ext cx="219456" cy="155448"/>
          </a:xfrm>
          <a:prstGeom prst="rightArrow">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55101" y="2816352"/>
            <a:ext cx="2323982" cy="841248"/>
          </a:xfrm>
          <a:prstGeom prst="roundRect">
            <a:avLst/>
          </a:prstGeom>
          <a:solidFill>
            <a:srgbClr val="FFFFFF"/>
          </a:solidFill>
          <a:ln w="1587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046541" y="2980944"/>
            <a:ext cx="2141102" cy="566928"/>
          </a:xfrm>
          <a:prstGeom prst="rect">
            <a:avLst/>
          </a:prstGeom>
          <a:noFill/>
        </p:spPr>
        <p:txBody>
          <a:bodyPr wrap="square" lIns="0" rIns="0" tIns="0" bIns="0" anchor="t">
            <a:spAutoFit/>
          </a:bodyPr>
          <a:lstStyle/>
          <a:p>
            <a:pPr algn="ctr"/>
            <a:r>
              <a:rPr sz="1400" b="1" i="0">
                <a:solidFill>
                  <a:srgbClr val="EB6834"/>
                </a:solidFill>
                <a:latin typeface="Calibri"/>
              </a:rPr>
              <a:t>Sales agent</a:t>
            </a:r>
          </a:p>
          <a:p>
            <a:pPr algn="ctr"/>
            <a:r>
              <a:rPr sz="1400" b="1" i="0">
                <a:solidFill>
                  <a:srgbClr val="EB6834"/>
                </a:solidFill>
                <a:latin typeface="Calibri"/>
              </a:rPr>
              <a:t>flag 1</a:t>
            </a:r>
          </a:p>
        </p:txBody>
      </p:sp>
      <p:sp>
        <p:nvSpPr>
          <p:cNvPr id="18" name="Right Arrow 17"/>
          <p:cNvSpPr/>
          <p:nvPr/>
        </p:nvSpPr>
        <p:spPr>
          <a:xfrm>
            <a:off x="8324804" y="3159252"/>
            <a:ext cx="219456" cy="155448"/>
          </a:xfrm>
          <a:prstGeom prst="rightArrow">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89980" y="2816352"/>
            <a:ext cx="3053074" cy="841248"/>
          </a:xfrm>
          <a:prstGeom prst="roundRect">
            <a:avLst/>
          </a:prstGeom>
          <a:solidFill>
            <a:srgbClr val="FFFFFF"/>
          </a:solidFill>
          <a:ln w="15875">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681420" y="3020060"/>
            <a:ext cx="2870194" cy="470407"/>
          </a:xfrm>
          <a:prstGeom prst="rect">
            <a:avLst/>
          </a:prstGeom>
          <a:noFill/>
        </p:spPr>
        <p:txBody>
          <a:bodyPr wrap="square" lIns="0" rIns="0" tIns="0" bIns="0" anchor="t">
            <a:spAutoFit/>
          </a:bodyPr>
          <a:lstStyle/>
          <a:p>
            <a:pPr algn="ctr"/>
            <a:r>
              <a:rPr sz="1400" b="0" i="0">
                <a:solidFill>
                  <a:srgbClr val="4A556B"/>
                </a:solidFill>
                <a:latin typeface="Calibri"/>
              </a:rPr>
              <a:t>Search tools + LLM</a:t>
            </a:r>
          </a:p>
          <a:p>
            <a:pPr algn="ctr"/>
            <a:r>
              <a:rPr sz="1400" b="0" i="0">
                <a:solidFill>
                  <a:srgbClr val="4A556B"/>
                </a:solidFill>
                <a:latin typeface="Calibri"/>
              </a:rPr>
              <a:t>Products / plans / pricing</a:t>
            </a:r>
          </a:p>
        </p:txBody>
      </p:sp>
      <p:sp>
        <p:nvSpPr>
          <p:cNvPr id="21" name="Oval 20"/>
          <p:cNvSpPr/>
          <p:nvPr/>
        </p:nvSpPr>
        <p:spPr>
          <a:xfrm>
            <a:off x="548640" y="4133087"/>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4041648"/>
            <a:ext cx="4998567" cy="854964"/>
          </a:xfrm>
          <a:prstGeom prst="rect">
            <a:avLst/>
          </a:prstGeom>
          <a:noFill/>
        </p:spPr>
        <p:txBody>
          <a:bodyPr wrap="square" lIns="0" rIns="0" tIns="0" bIns="0" anchor="t">
            <a:spAutoFit/>
          </a:bodyPr>
          <a:lstStyle/>
          <a:p>
            <a:pPr algn="l"/>
            <a:r>
              <a:rPr sz="1800" b="0" i="0">
                <a:solidFill>
                  <a:srgbClr val="16263F"/>
                </a:solidFill>
                <a:latin typeface="Calibri"/>
              </a:rPr>
              <a:t>KIO is the chat entry point to two specialist agents:</a:t>
            </a:r>
          </a:p>
          <a:p>
            <a:pPr algn="l"/>
            <a:r>
              <a:rPr sz="1800" b="0" i="0">
                <a:solidFill>
                  <a:srgbClr val="16263F"/>
                </a:solidFill>
                <a:latin typeface="Calibri"/>
              </a:rPr>
              <a:t>support (problems, complaints, existing requests)</a:t>
            </a:r>
          </a:p>
          <a:p>
            <a:pPr algn="l"/>
            <a:r>
              <a:rPr sz="1800" b="0" i="0">
                <a:solidFill>
                  <a:srgbClr val="16263F"/>
                </a:solidFill>
                <a:latin typeface="Calibri"/>
              </a:rPr>
              <a:t>and sales (new purchases, packages, quotes).</a:t>
            </a:r>
          </a:p>
        </p:txBody>
      </p:sp>
      <p:sp>
        <p:nvSpPr>
          <p:cNvPr id="23" name="Oval 22"/>
          <p:cNvSpPr/>
          <p:nvPr/>
        </p:nvSpPr>
        <p:spPr>
          <a:xfrm>
            <a:off x="548640" y="5152644"/>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 y="5061204"/>
            <a:ext cx="4998567" cy="576072"/>
          </a:xfrm>
          <a:prstGeom prst="rect">
            <a:avLst/>
          </a:prstGeom>
          <a:noFill/>
        </p:spPr>
        <p:txBody>
          <a:bodyPr wrap="square" lIns="0" rIns="0" tIns="0" bIns="0" anchor="t">
            <a:spAutoFit/>
          </a:bodyPr>
          <a:lstStyle/>
          <a:p>
            <a:pPr algn="l"/>
            <a:r>
              <a:rPr sz="1800" b="0" i="0">
                <a:solidFill>
                  <a:srgbClr val="16263F"/>
                </a:solidFill>
                <a:latin typeface="Calibri"/>
              </a:rPr>
              <a:t>Our block is the intent router: message in, flag out. 0</a:t>
            </a:r>
          </a:p>
          <a:p>
            <a:pPr algn="l"/>
            <a:r>
              <a:rPr sz="1800" b="0" i="0">
                <a:solidFill>
                  <a:srgbClr val="16263F"/>
                </a:solidFill>
                <a:latin typeface="Calibri"/>
              </a:rPr>
              <a:t>= support, 1 = sales.</a:t>
            </a:r>
          </a:p>
        </p:txBody>
      </p:sp>
      <p:sp>
        <p:nvSpPr>
          <p:cNvPr id="25" name="Oval 24"/>
          <p:cNvSpPr/>
          <p:nvPr/>
        </p:nvSpPr>
        <p:spPr>
          <a:xfrm>
            <a:off x="6370167" y="4133087"/>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44487" y="4041648"/>
            <a:ext cx="4998567" cy="854964"/>
          </a:xfrm>
          <a:prstGeom prst="rect">
            <a:avLst/>
          </a:prstGeom>
          <a:noFill/>
        </p:spPr>
        <p:txBody>
          <a:bodyPr wrap="square" lIns="0" rIns="0" tIns="0" bIns="0" anchor="t">
            <a:spAutoFit/>
          </a:bodyPr>
          <a:lstStyle/>
          <a:p>
            <a:pPr algn="l"/>
            <a:r>
              <a:rPr sz="1800" b="0" i="0">
                <a:solidFill>
                  <a:srgbClr val="16263F"/>
                </a:solidFill>
                <a:latin typeface="Calibri"/>
              </a:rPr>
              <a:t>Routing picks the workflow; retrieval (RAG) then finds</a:t>
            </a:r>
          </a:p>
          <a:p>
            <a:pPr algn="l"/>
            <a:r>
              <a:rPr sz="1800" b="0" i="0">
                <a:solidFill>
                  <a:srgbClr val="16263F"/>
                </a:solidFill>
                <a:latin typeface="Calibri"/>
              </a:rPr>
              <a:t>information inside it. A wrong route means the</a:t>
            </a:r>
          </a:p>
          <a:p>
            <a:pPr algn="l"/>
            <a:r>
              <a:rPr sz="1800" b="0" i="0">
                <a:solidFill>
                  <a:srgbClr val="16263F"/>
                </a:solidFill>
                <a:latin typeface="Calibri"/>
              </a:rPr>
              <a:t>wrong tools and the wrong knowledge base.</a:t>
            </a:r>
          </a:p>
        </p:txBody>
      </p:sp>
      <p:sp>
        <p:nvSpPr>
          <p:cNvPr id="27" name="Oval 26"/>
          <p:cNvSpPr/>
          <p:nvPr/>
        </p:nvSpPr>
        <p:spPr>
          <a:xfrm>
            <a:off x="6370167" y="5152644"/>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44487" y="5061204"/>
            <a:ext cx="4998567" cy="576072"/>
          </a:xfrm>
          <a:prstGeom prst="rect">
            <a:avLst/>
          </a:prstGeom>
          <a:noFill/>
        </p:spPr>
        <p:txBody>
          <a:bodyPr wrap="square" lIns="0" rIns="0" tIns="0" bIns="0" anchor="t">
            <a:spAutoFit/>
          </a:bodyPr>
          <a:lstStyle/>
          <a:p>
            <a:pPr algn="l"/>
            <a:r>
              <a:rPr sz="1800" b="0" i="0">
                <a:solidFill>
                  <a:srgbClr val="16263F"/>
                </a:solidFill>
                <a:latin typeface="Calibri"/>
              </a:rPr>
              <a:t>We built the router twice and compared the two on</a:t>
            </a:r>
          </a:p>
          <a:p>
            <a:pPr algn="l"/>
            <a:r>
              <a:rPr sz="1800" b="0" i="0">
                <a:solidFill>
                  <a:srgbClr val="16263F"/>
                </a:solidFill>
                <a:latin typeface="Calibri"/>
              </a:rPr>
              <a:t>the same flag.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20624"/>
            <a:ext cx="11094415" cy="566928"/>
          </a:xfrm>
          <a:prstGeom prst="rect">
            <a:avLst/>
          </a:prstGeom>
          <a:noFill/>
        </p:spPr>
        <p:txBody>
          <a:bodyPr wrap="square" lIns="0" rIns="0" tIns="0" bIns="0" anchor="t">
            <a:spAutoFit/>
          </a:bodyPr>
          <a:lstStyle/>
          <a:p>
            <a:pPr algn="l"/>
            <a:r>
              <a:rPr sz="3200" b="1" i="0">
                <a:solidFill>
                  <a:srgbClr val="16263F"/>
                </a:solidFill>
                <a:latin typeface="Calibri"/>
              </a:rPr>
              <a:t>The dataset</a:t>
            </a:r>
          </a:p>
        </p:txBody>
      </p:sp>
      <p:sp>
        <p:nvSpPr>
          <p:cNvPr id="3" name="Rounded Rectangle 2"/>
          <p:cNvSpPr/>
          <p:nvPr/>
        </p:nvSpPr>
        <p:spPr>
          <a:xfrm>
            <a:off x="10643057" y="457200"/>
            <a:ext cx="999998" cy="310896"/>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Student 1</a:t>
            </a:r>
          </a:p>
        </p:txBody>
      </p:sp>
      <p:sp>
        <p:nvSpPr>
          <p:cNvPr id="4" name="Rounded Rectangle 3"/>
          <p:cNvSpPr/>
          <p:nvPr/>
        </p:nvSpPr>
        <p:spPr>
          <a:xfrm>
            <a:off x="548640" y="1152144"/>
            <a:ext cx="2567863" cy="1393951"/>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76656" y="1280160"/>
            <a:ext cx="2311831" cy="656336"/>
          </a:xfrm>
          <a:prstGeom prst="rect">
            <a:avLst/>
          </a:prstGeom>
          <a:noFill/>
        </p:spPr>
        <p:txBody>
          <a:bodyPr wrap="square" lIns="0" rIns="0" tIns="0" bIns="0" anchor="t">
            <a:spAutoFit/>
          </a:bodyPr>
          <a:lstStyle/>
          <a:p>
            <a:pPr algn="ctr"/>
            <a:r>
              <a:rPr sz="4000" b="1" i="0">
                <a:solidFill>
                  <a:srgbClr val="2A78D6"/>
                </a:solidFill>
                <a:latin typeface="Calibri"/>
              </a:rPr>
              <a:t>60</a:t>
            </a:r>
          </a:p>
        </p:txBody>
      </p:sp>
      <p:sp>
        <p:nvSpPr>
          <p:cNvPr id="6" name="TextBox 5"/>
          <p:cNvSpPr txBox="1"/>
          <p:nvPr/>
        </p:nvSpPr>
        <p:spPr>
          <a:xfrm>
            <a:off x="658368" y="2009647"/>
            <a:ext cx="2348407" cy="408432"/>
          </a:xfrm>
          <a:prstGeom prst="rect">
            <a:avLst/>
          </a:prstGeom>
          <a:noFill/>
        </p:spPr>
        <p:txBody>
          <a:bodyPr wrap="square" lIns="0" rIns="0" tIns="0" bIns="0" anchor="t">
            <a:spAutoFit/>
          </a:bodyPr>
          <a:lstStyle/>
          <a:p>
            <a:pPr algn="ctr"/>
            <a:r>
              <a:rPr sz="1200" b="0" i="0">
                <a:solidFill>
                  <a:srgbClr val="4A556B"/>
                </a:solidFill>
                <a:latin typeface="Calibri"/>
              </a:rPr>
              <a:t>synthetic English messages</a:t>
            </a:r>
          </a:p>
          <a:p>
            <a:pPr algn="ctr"/>
            <a:r>
              <a:rPr sz="1200" b="0" i="0">
                <a:solidFill>
                  <a:srgbClr val="4A556B"/>
                </a:solidFill>
                <a:latin typeface="Calibri"/>
              </a:rPr>
              <a:t>30 support / 30 sales</a:t>
            </a:r>
          </a:p>
        </p:txBody>
      </p:sp>
      <p:sp>
        <p:nvSpPr>
          <p:cNvPr id="7" name="Rounded Rectangle 6"/>
          <p:cNvSpPr/>
          <p:nvPr/>
        </p:nvSpPr>
        <p:spPr>
          <a:xfrm>
            <a:off x="3390823" y="1152144"/>
            <a:ext cx="2567863" cy="1208024"/>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518839" y="1280160"/>
            <a:ext cx="2311831" cy="656336"/>
          </a:xfrm>
          <a:prstGeom prst="rect">
            <a:avLst/>
          </a:prstGeom>
          <a:noFill/>
        </p:spPr>
        <p:txBody>
          <a:bodyPr wrap="square" lIns="0" rIns="0" tIns="0" bIns="0" anchor="t">
            <a:spAutoFit/>
          </a:bodyPr>
          <a:lstStyle/>
          <a:p>
            <a:pPr algn="ctr"/>
            <a:r>
              <a:rPr sz="4000" b="1" i="0">
                <a:solidFill>
                  <a:srgbClr val="16263F"/>
                </a:solidFill>
                <a:latin typeface="Calibri"/>
              </a:rPr>
              <a:t>24</a:t>
            </a:r>
          </a:p>
        </p:txBody>
      </p:sp>
      <p:sp>
        <p:nvSpPr>
          <p:cNvPr id="9" name="TextBox 8"/>
          <p:cNvSpPr txBox="1"/>
          <p:nvPr/>
        </p:nvSpPr>
        <p:spPr>
          <a:xfrm>
            <a:off x="3500551" y="2009647"/>
            <a:ext cx="2348407" cy="222504"/>
          </a:xfrm>
          <a:prstGeom prst="rect">
            <a:avLst/>
          </a:prstGeom>
          <a:noFill/>
        </p:spPr>
        <p:txBody>
          <a:bodyPr wrap="square" lIns="0" rIns="0" tIns="0" bIns="0" anchor="t">
            <a:spAutoFit/>
          </a:bodyPr>
          <a:lstStyle/>
          <a:p>
            <a:pPr algn="ctr"/>
            <a:r>
              <a:rPr sz="1200" b="0" i="0">
                <a:solidFill>
                  <a:srgbClr val="4A556B"/>
                </a:solidFill>
                <a:latin typeface="Calibri"/>
              </a:rPr>
              <a:t>plain</a:t>
            </a:r>
          </a:p>
        </p:txBody>
      </p:sp>
      <p:sp>
        <p:nvSpPr>
          <p:cNvPr id="10" name="Rounded Rectangle 9"/>
          <p:cNvSpPr/>
          <p:nvPr/>
        </p:nvSpPr>
        <p:spPr>
          <a:xfrm>
            <a:off x="6233007" y="1152144"/>
            <a:ext cx="2567863" cy="1208024"/>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61023" y="1280160"/>
            <a:ext cx="2311831" cy="656336"/>
          </a:xfrm>
          <a:prstGeom prst="rect">
            <a:avLst/>
          </a:prstGeom>
          <a:noFill/>
        </p:spPr>
        <p:txBody>
          <a:bodyPr wrap="square" lIns="0" rIns="0" tIns="0" bIns="0" anchor="t">
            <a:spAutoFit/>
          </a:bodyPr>
          <a:lstStyle/>
          <a:p>
            <a:pPr algn="ctr"/>
            <a:r>
              <a:rPr sz="4000" b="1" i="0">
                <a:solidFill>
                  <a:srgbClr val="16263F"/>
                </a:solidFill>
                <a:latin typeface="Calibri"/>
              </a:rPr>
              <a:t>20</a:t>
            </a:r>
          </a:p>
        </p:txBody>
      </p:sp>
      <p:sp>
        <p:nvSpPr>
          <p:cNvPr id="12" name="TextBox 11"/>
          <p:cNvSpPr txBox="1"/>
          <p:nvPr/>
        </p:nvSpPr>
        <p:spPr>
          <a:xfrm>
            <a:off x="6342735" y="2009647"/>
            <a:ext cx="2348407" cy="222504"/>
          </a:xfrm>
          <a:prstGeom prst="rect">
            <a:avLst/>
          </a:prstGeom>
          <a:noFill/>
        </p:spPr>
        <p:txBody>
          <a:bodyPr wrap="square" lIns="0" rIns="0" tIns="0" bIns="0" anchor="t">
            <a:spAutoFit/>
          </a:bodyPr>
          <a:lstStyle/>
          <a:p>
            <a:pPr algn="ctr"/>
            <a:r>
              <a:rPr sz="1200" b="0" i="0">
                <a:solidFill>
                  <a:srgbClr val="4A556B"/>
                </a:solidFill>
                <a:latin typeface="Calibri"/>
              </a:rPr>
              <a:t>negation</a:t>
            </a:r>
          </a:p>
        </p:txBody>
      </p:sp>
      <p:sp>
        <p:nvSpPr>
          <p:cNvPr id="13" name="Rounded Rectangle 12"/>
          <p:cNvSpPr/>
          <p:nvPr/>
        </p:nvSpPr>
        <p:spPr>
          <a:xfrm>
            <a:off x="9075191" y="1152144"/>
            <a:ext cx="2567863" cy="1208024"/>
          </a:xfrm>
          <a:prstGeom prst="roundRect">
            <a:avLst/>
          </a:prstGeom>
          <a:solidFill>
            <a:srgbClr val="FD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03207" y="1280160"/>
            <a:ext cx="2311831" cy="656336"/>
          </a:xfrm>
          <a:prstGeom prst="rect">
            <a:avLst/>
          </a:prstGeom>
          <a:noFill/>
        </p:spPr>
        <p:txBody>
          <a:bodyPr wrap="square" lIns="0" rIns="0" tIns="0" bIns="0" anchor="t">
            <a:spAutoFit/>
          </a:bodyPr>
          <a:lstStyle/>
          <a:p>
            <a:pPr algn="ctr"/>
            <a:r>
              <a:rPr sz="4000" b="1" i="0">
                <a:solidFill>
                  <a:srgbClr val="16263F"/>
                </a:solidFill>
                <a:latin typeface="Calibri"/>
              </a:rPr>
              <a:t>16</a:t>
            </a:r>
          </a:p>
        </p:txBody>
      </p:sp>
      <p:sp>
        <p:nvSpPr>
          <p:cNvPr id="15" name="TextBox 14"/>
          <p:cNvSpPr txBox="1"/>
          <p:nvPr/>
        </p:nvSpPr>
        <p:spPr>
          <a:xfrm>
            <a:off x="9184919" y="2009647"/>
            <a:ext cx="2348407" cy="222504"/>
          </a:xfrm>
          <a:prstGeom prst="rect">
            <a:avLst/>
          </a:prstGeom>
          <a:noFill/>
        </p:spPr>
        <p:txBody>
          <a:bodyPr wrap="square" lIns="0" rIns="0" tIns="0" bIns="0" anchor="t">
            <a:spAutoFit/>
          </a:bodyPr>
          <a:lstStyle/>
          <a:p>
            <a:pPr algn="ctr"/>
            <a:r>
              <a:rPr sz="1200" b="0" i="0">
                <a:solidFill>
                  <a:srgbClr val="4A556B"/>
                </a:solidFill>
                <a:latin typeface="Calibri"/>
              </a:rPr>
              <a:t>mixed intent</a:t>
            </a:r>
          </a:p>
        </p:txBody>
      </p:sp>
      <p:sp>
        <p:nvSpPr>
          <p:cNvPr id="16" name="Oval 15"/>
          <p:cNvSpPr/>
          <p:nvPr/>
        </p:nvSpPr>
        <p:spPr>
          <a:xfrm>
            <a:off x="548640" y="2834639"/>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2743200"/>
            <a:ext cx="10820095" cy="576072"/>
          </a:xfrm>
          <a:prstGeom prst="rect">
            <a:avLst/>
          </a:prstGeom>
          <a:noFill/>
        </p:spPr>
        <p:txBody>
          <a:bodyPr wrap="square" lIns="0" rIns="0" tIns="0" bIns="0" anchor="t">
            <a:spAutoFit/>
          </a:bodyPr>
          <a:lstStyle/>
          <a:p>
            <a:pPr algn="l"/>
            <a:r>
              <a:rPr sz="1800" b="0" i="0">
                <a:solidFill>
                  <a:srgbClr val="16263F"/>
                </a:solidFill>
                <a:latin typeface="Calibri"/>
              </a:rPr>
              <a:t>60 synthetic English messages = 30 intent groups, each group a base message plus a paraphrase. 30 support / 30</a:t>
            </a:r>
          </a:p>
          <a:p>
            <a:pPr algn="l"/>
            <a:r>
              <a:rPr sz="1800" b="0" i="0">
                <a:solidFill>
                  <a:srgbClr val="16263F"/>
                </a:solidFill>
                <a:latin typeface="Calibri"/>
              </a:rPr>
              <a:t>sales.</a:t>
            </a:r>
          </a:p>
        </p:txBody>
      </p:sp>
      <p:sp>
        <p:nvSpPr>
          <p:cNvPr id="18" name="Oval 17"/>
          <p:cNvSpPr/>
          <p:nvPr/>
        </p:nvSpPr>
        <p:spPr>
          <a:xfrm>
            <a:off x="548640" y="3593591"/>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502152"/>
            <a:ext cx="10820095" cy="576072"/>
          </a:xfrm>
          <a:prstGeom prst="rect">
            <a:avLst/>
          </a:prstGeom>
          <a:noFill/>
        </p:spPr>
        <p:txBody>
          <a:bodyPr wrap="square" lIns="0" rIns="0" tIns="0" bIns="0" anchor="t">
            <a:spAutoFit/>
          </a:bodyPr>
          <a:lstStyle/>
          <a:p>
            <a:pPr algn="l"/>
            <a:r>
              <a:rPr sz="1800" b="0" i="0">
                <a:solidFill>
                  <a:srgbClr val="16263F"/>
                </a:solidFill>
                <a:latin typeface="Calibri"/>
              </a:rPr>
              <a:t>Three categories on purpose, written so keywords mislead - support messages that say upgrade and premium</a:t>
            </a:r>
          </a:p>
          <a:p>
            <a:pPr algn="l"/>
            <a:r>
              <a:rPr sz="1800" b="0" i="0">
                <a:solidFill>
                  <a:srgbClr val="16263F"/>
                </a:solidFill>
                <a:latin typeface="Calibri"/>
              </a:rPr>
              <a:t>package, sales messages that say nothing is wrong.</a:t>
            </a:r>
          </a:p>
        </p:txBody>
      </p:sp>
      <p:sp>
        <p:nvSpPr>
          <p:cNvPr id="20" name="Oval 19"/>
          <p:cNvSpPr/>
          <p:nvPr/>
        </p:nvSpPr>
        <p:spPr>
          <a:xfrm>
            <a:off x="548640" y="4352544"/>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261104"/>
            <a:ext cx="10820095" cy="576072"/>
          </a:xfrm>
          <a:prstGeom prst="rect">
            <a:avLst/>
          </a:prstGeom>
          <a:noFill/>
        </p:spPr>
        <p:txBody>
          <a:bodyPr wrap="square" lIns="0" rIns="0" tIns="0" bIns="0" anchor="t">
            <a:spAutoFit/>
          </a:bodyPr>
          <a:lstStyle/>
          <a:p>
            <a:pPr algn="l"/>
            <a:r>
              <a:rPr sz="1800" b="0" i="0">
                <a:solidFill>
                  <a:srgbClr val="16263F"/>
                </a:solidFill>
                <a:latin typeface="Calibri"/>
              </a:rPr>
              <a:t>Labeling guideline, agreed before any model ran: support = a problem or an existing service; sales = a new purchase</a:t>
            </a:r>
          </a:p>
          <a:p>
            <a:pPr algn="l"/>
            <a:r>
              <a:rPr sz="1800" b="0" i="0">
                <a:solidFill>
                  <a:srgbClr val="16263F"/>
                </a:solidFill>
                <a:latin typeface="Calibri"/>
              </a:rPr>
              <a:t>with no unresolved problem; mixed intent with an unresolved problem -&gt; support.</a:t>
            </a:r>
          </a:p>
        </p:txBody>
      </p:sp>
      <p:sp>
        <p:nvSpPr>
          <p:cNvPr id="22" name="Oval 21"/>
          <p:cNvSpPr/>
          <p:nvPr/>
        </p:nvSpPr>
        <p:spPr>
          <a:xfrm>
            <a:off x="548640" y="5111496"/>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5020056"/>
            <a:ext cx="10820095" cy="576072"/>
          </a:xfrm>
          <a:prstGeom prst="rect">
            <a:avLst/>
          </a:prstGeom>
          <a:noFill/>
        </p:spPr>
        <p:txBody>
          <a:bodyPr wrap="square" lIns="0" rIns="0" tIns="0" bIns="0" anchor="t">
            <a:spAutoFit/>
          </a:bodyPr>
          <a:lstStyle/>
          <a:p>
            <a:pPr algn="l"/>
            <a:r>
              <a:rPr sz="1800" b="0" i="0">
                <a:solidFill>
                  <a:srgbClr val="16263F"/>
                </a:solidFill>
                <a:latin typeface="Calibri"/>
              </a:rPr>
              <a:t>Split 40 train / 20 test, balanced by class, split at group level so a paraphrase never lands on the other side of the</a:t>
            </a:r>
          </a:p>
          <a:p>
            <a:pPr algn="l"/>
            <a:r>
              <a:rPr sz="1800" b="0" i="0">
                <a:solidFill>
                  <a:srgbClr val="16263F"/>
                </a:solidFill>
                <a:latin typeface="Calibri"/>
              </a:rPr>
              <a:t>split. Seed 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20624"/>
            <a:ext cx="11094415" cy="566928"/>
          </a:xfrm>
          <a:prstGeom prst="rect">
            <a:avLst/>
          </a:prstGeom>
          <a:noFill/>
        </p:spPr>
        <p:txBody>
          <a:bodyPr wrap="square" lIns="0" rIns="0" tIns="0" bIns="0" anchor="t">
            <a:spAutoFit/>
          </a:bodyPr>
          <a:lstStyle/>
          <a:p>
            <a:pPr algn="l"/>
            <a:r>
              <a:rPr sz="3200" b="1" i="0">
                <a:solidFill>
                  <a:srgbClr val="16263F"/>
                </a:solidFill>
                <a:latin typeface="Calibri"/>
              </a:rPr>
              <a:t>Sample rows, and how the two approaches differ</a:t>
            </a:r>
          </a:p>
        </p:txBody>
      </p:sp>
      <p:sp>
        <p:nvSpPr>
          <p:cNvPr id="3" name="Rounded Rectangle 2"/>
          <p:cNvSpPr/>
          <p:nvPr/>
        </p:nvSpPr>
        <p:spPr>
          <a:xfrm>
            <a:off x="10643057" y="457200"/>
            <a:ext cx="999998" cy="310896"/>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Student 1</a:t>
            </a:r>
          </a:p>
        </p:txBody>
      </p:sp>
      <p:graphicFrame>
        <p:nvGraphicFramePr>
          <p:cNvPr id="4" name="Table 3"/>
          <p:cNvGraphicFramePr>
            <a:graphicFrameLocks noGrp="1"/>
          </p:cNvGraphicFramePr>
          <p:nvPr/>
        </p:nvGraphicFramePr>
        <p:xfrm>
          <a:off x="548640" y="1152144"/>
          <a:ext cx="11091672" cy="2432304"/>
        </p:xfrm>
        <a:graphic>
          <a:graphicData uri="http://schemas.openxmlformats.org/drawingml/2006/table">
            <a:tbl>
              <a:tblPr firstRow="1" bandRow="1">
                <a:tableStyleId>{5C22544A-7EE6-4342-B048-85BDC9FD1C3A}</a:tableStyleId>
              </a:tblPr>
              <a:tblGrid>
                <a:gridCol w="502920"/>
                <a:gridCol w="6858000"/>
                <a:gridCol w="868680"/>
                <a:gridCol w="914400"/>
                <a:gridCol w="1947672"/>
              </a:tblGrid>
              <a:tr h="347472">
                <a:tc>
                  <a:txBody>
                    <a:bodyPr/>
                    <a:lstStyle/>
                    <a:p>
                      <a:pPr algn="ctr"/>
                      <a:r>
                        <a:rPr sz="1200" b="1" i="0">
                          <a:solidFill>
                            <a:srgbClr val="FFFFFF"/>
                          </a:solidFill>
                          <a:latin typeface="Calibri"/>
                        </a:rPr>
                        <a:t>id</a:t>
                      </a:r>
                    </a:p>
                  </a:txBody>
                  <a:tcPr marL="73152" marR="73152" marT="27432" marB="27432" anchor="ctr">
                    <a:solidFill>
                      <a:srgbClr val="16263F"/>
                    </a:solidFill>
                  </a:tcPr>
                </a:tc>
                <a:tc>
                  <a:txBody>
                    <a:bodyPr/>
                    <a:lstStyle/>
                    <a:p>
                      <a:pPr algn="l"/>
                      <a:r>
                        <a:rPr sz="1200" b="1" i="0">
                          <a:solidFill>
                            <a:srgbClr val="FFFFFF"/>
                          </a:solidFill>
                          <a:latin typeface="Calibri"/>
                        </a:rPr>
                        <a:t>message</a:t>
                      </a:r>
                    </a:p>
                  </a:txBody>
                  <a:tcPr marL="73152" marR="73152" marT="27432" marB="27432" anchor="ctr">
                    <a:solidFill>
                      <a:srgbClr val="16263F"/>
                    </a:solidFill>
                  </a:tcPr>
                </a:tc>
                <a:tc>
                  <a:txBody>
                    <a:bodyPr/>
                    <a:lstStyle/>
                    <a:p>
                      <a:pPr algn="ctr"/>
                      <a:r>
                        <a:rPr sz="1200" b="1" i="0">
                          <a:solidFill>
                            <a:srgbClr val="FFFFFF"/>
                          </a:solidFill>
                          <a:latin typeface="Calibri"/>
                        </a:rPr>
                        <a:t>label</a:t>
                      </a:r>
                    </a:p>
                  </a:txBody>
                  <a:tcPr marL="73152" marR="73152" marT="27432" marB="27432" anchor="ctr">
                    <a:solidFill>
                      <a:srgbClr val="16263F"/>
                    </a:solidFill>
                  </a:tcPr>
                </a:tc>
                <a:tc>
                  <a:txBody>
                    <a:bodyPr/>
                    <a:lstStyle/>
                    <a:p>
                      <a:pPr algn="ctr"/>
                      <a:r>
                        <a:rPr sz="1200" b="1" i="0">
                          <a:solidFill>
                            <a:srgbClr val="FFFFFF"/>
                          </a:solidFill>
                          <a:latin typeface="Calibri"/>
                        </a:rPr>
                        <a:t>split</a:t>
                      </a:r>
                    </a:p>
                  </a:txBody>
                  <a:tcPr marL="73152" marR="73152" marT="27432" marB="27432" anchor="ctr">
                    <a:solidFill>
                      <a:srgbClr val="16263F"/>
                    </a:solidFill>
                  </a:tcPr>
                </a:tc>
                <a:tc>
                  <a:txBody>
                    <a:bodyPr/>
                    <a:lstStyle/>
                    <a:p>
                      <a:pPr algn="ctr"/>
                      <a:r>
                        <a:rPr sz="1200" b="1" i="0">
                          <a:solidFill>
                            <a:srgbClr val="FFFFFF"/>
                          </a:solidFill>
                          <a:latin typeface="Calibri"/>
                        </a:rPr>
                        <a:t>category</a:t>
                      </a:r>
                    </a:p>
                  </a:txBody>
                  <a:tcPr marL="73152" marR="73152" marT="27432" marB="27432" anchor="ctr">
                    <a:solidFill>
                      <a:srgbClr val="16263F"/>
                    </a:solidFill>
                  </a:tcPr>
                </a:tc>
              </a:tr>
              <a:tr h="347472">
                <a:tc>
                  <a:txBody>
                    <a:bodyPr/>
                    <a:lstStyle/>
                    <a:p>
                      <a:pPr algn="ctr"/>
                      <a:r>
                        <a:rPr sz="1200" b="0" i="0">
                          <a:solidFill>
                            <a:srgbClr val="16263F"/>
                          </a:solidFill>
                          <a:latin typeface="Calibri"/>
                        </a:rPr>
                        <a:t>1</a:t>
                      </a:r>
                    </a:p>
                  </a:txBody>
                  <a:tcPr marL="73152" marR="73152" marT="27432" marB="27432" anchor="ctr">
                    <a:solidFill>
                      <a:srgbClr val="FFFFFF"/>
                    </a:solidFill>
                  </a:tcPr>
                </a:tc>
                <a:tc>
                  <a:txBody>
                    <a:bodyPr/>
                    <a:lstStyle/>
                    <a:p>
                      <a:pPr algn="l"/>
                      <a:r>
                        <a:rPr sz="1200" b="0" i="0">
                          <a:solidFill>
                            <a:srgbClr val="16263F"/>
                          </a:solidFill>
                          <a:latin typeface="Calibri"/>
                        </a:rPr>
                        <a:t>My internet connection keeps dropping every evening.</a:t>
                      </a:r>
                    </a:p>
                  </a:txBody>
                  <a:tcPr marL="73152" marR="73152" marT="27432" marB="27432" anchor="ctr">
                    <a:solidFill>
                      <a:srgbClr val="FFFFFF"/>
                    </a:solidFill>
                  </a:tcPr>
                </a:tc>
                <a:tc>
                  <a:txBody>
                    <a:bodyPr/>
                    <a:lstStyle/>
                    <a:p>
                      <a:pPr algn="ctr"/>
                      <a:r>
                        <a:rPr sz="1200" b="1" i="0">
                          <a:solidFill>
                            <a:srgbClr val="2A78D6"/>
                          </a:solidFill>
                          <a:latin typeface="Calibri"/>
                        </a:rPr>
                        <a:t>0</a:t>
                      </a:r>
                    </a:p>
                  </a:txBody>
                  <a:tcPr marL="73152" marR="73152" marT="27432" marB="27432" anchor="ctr">
                    <a:solidFill>
                      <a:srgbClr val="FFFFFF"/>
                    </a:solidFill>
                  </a:tcPr>
                </a:tc>
                <a:tc>
                  <a:txBody>
                    <a:bodyPr/>
                    <a:lstStyle/>
                    <a:p>
                      <a:pPr algn="ctr"/>
                      <a:r>
                        <a:rPr sz="1200" b="0" i="0">
                          <a:solidFill>
                            <a:srgbClr val="16263F"/>
                          </a:solidFill>
                          <a:latin typeface="Calibri"/>
                        </a:rPr>
                        <a:t>test</a:t>
                      </a:r>
                    </a:p>
                  </a:txBody>
                  <a:tcPr marL="73152" marR="73152" marT="27432" marB="27432" anchor="ctr">
                    <a:solidFill>
                      <a:srgbClr val="FFFFFF"/>
                    </a:solidFill>
                  </a:tcPr>
                </a:tc>
                <a:tc>
                  <a:txBody>
                    <a:bodyPr/>
                    <a:lstStyle/>
                    <a:p>
                      <a:pPr algn="ctr"/>
                      <a:r>
                        <a:rPr sz="1200" b="0" i="0">
                          <a:solidFill>
                            <a:srgbClr val="16263F"/>
                          </a:solidFill>
                          <a:latin typeface="Calibri"/>
                        </a:rPr>
                        <a:t>plain</a:t>
                      </a:r>
                    </a:p>
                  </a:txBody>
                  <a:tcPr marL="73152" marR="73152" marT="27432" marB="27432" anchor="ctr">
                    <a:solidFill>
                      <a:srgbClr val="FFFFFF"/>
                    </a:solidFill>
                  </a:tcPr>
                </a:tc>
              </a:tr>
              <a:tr h="347472">
                <a:tc>
                  <a:txBody>
                    <a:bodyPr/>
                    <a:lstStyle/>
                    <a:p>
                      <a:pPr algn="ctr"/>
                      <a:r>
                        <a:rPr sz="1200" b="0" i="0">
                          <a:solidFill>
                            <a:srgbClr val="16263F"/>
                          </a:solidFill>
                          <a:latin typeface="Calibri"/>
                        </a:rPr>
                        <a:t>13</a:t>
                      </a:r>
                    </a:p>
                  </a:txBody>
                  <a:tcPr marL="73152" marR="73152" marT="27432" marB="27432" anchor="ctr">
                    <a:solidFill>
                      <a:srgbClr val="EEF3FA"/>
                    </a:solidFill>
                  </a:tcPr>
                </a:tc>
                <a:tc>
                  <a:txBody>
                    <a:bodyPr/>
                    <a:lstStyle/>
                    <a:p>
                      <a:pPr algn="l"/>
                      <a:r>
                        <a:rPr sz="1200" b="0" i="0">
                          <a:solidFill>
                            <a:srgbClr val="16263F"/>
                          </a:solidFill>
                          <a:latin typeface="Calibri"/>
                        </a:rPr>
                        <a:t>I did not order this upgrade, so why am I being billed for it?</a:t>
                      </a:r>
                    </a:p>
                  </a:txBody>
                  <a:tcPr marL="73152" marR="73152" marT="27432" marB="27432" anchor="ctr">
                    <a:solidFill>
                      <a:srgbClr val="EEF3FA"/>
                    </a:solidFill>
                  </a:tcPr>
                </a:tc>
                <a:tc>
                  <a:txBody>
                    <a:bodyPr/>
                    <a:lstStyle/>
                    <a:p>
                      <a:pPr algn="ctr"/>
                      <a:r>
                        <a:rPr sz="1200" b="1" i="0">
                          <a:solidFill>
                            <a:srgbClr val="2A78D6"/>
                          </a:solidFill>
                          <a:latin typeface="Calibri"/>
                        </a:rPr>
                        <a:t>0</a:t>
                      </a:r>
                    </a:p>
                  </a:txBody>
                  <a:tcPr marL="73152" marR="73152" marT="27432" marB="27432" anchor="ctr">
                    <a:solidFill>
                      <a:srgbClr val="EEF3FA"/>
                    </a:solidFill>
                  </a:tcPr>
                </a:tc>
                <a:tc>
                  <a:txBody>
                    <a:bodyPr/>
                    <a:lstStyle/>
                    <a:p>
                      <a:pPr algn="ctr"/>
                      <a:r>
                        <a:rPr sz="1200" b="0" i="0">
                          <a:solidFill>
                            <a:srgbClr val="16263F"/>
                          </a:solidFill>
                          <a:latin typeface="Calibri"/>
                        </a:rPr>
                        <a:t>test</a:t>
                      </a:r>
                    </a:p>
                  </a:txBody>
                  <a:tcPr marL="73152" marR="73152" marT="27432" marB="27432" anchor="ctr">
                    <a:solidFill>
                      <a:srgbClr val="EEF3FA"/>
                    </a:solidFill>
                  </a:tcPr>
                </a:tc>
                <a:tc>
                  <a:txBody>
                    <a:bodyPr/>
                    <a:lstStyle/>
                    <a:p>
                      <a:pPr algn="ctr"/>
                      <a:r>
                        <a:rPr sz="1200" b="0" i="0">
                          <a:solidFill>
                            <a:srgbClr val="16263F"/>
                          </a:solidFill>
                          <a:latin typeface="Calibri"/>
                        </a:rPr>
                        <a:t>negation</a:t>
                      </a:r>
                    </a:p>
                  </a:txBody>
                  <a:tcPr marL="73152" marR="73152" marT="27432" marB="27432" anchor="ctr">
                    <a:solidFill>
                      <a:srgbClr val="EEF3FA"/>
                    </a:solidFill>
                  </a:tcPr>
                </a:tc>
              </a:tr>
              <a:tr h="347472">
                <a:tc>
                  <a:txBody>
                    <a:bodyPr/>
                    <a:lstStyle/>
                    <a:p>
                      <a:pPr algn="ctr"/>
                      <a:r>
                        <a:rPr sz="1200" b="0" i="0">
                          <a:solidFill>
                            <a:srgbClr val="16263F"/>
                          </a:solidFill>
                          <a:latin typeface="Calibri"/>
                        </a:rPr>
                        <a:t>25</a:t>
                      </a:r>
                    </a:p>
                  </a:txBody>
                  <a:tcPr marL="73152" marR="73152" marT="27432" marB="27432" anchor="ctr">
                    <a:solidFill>
                      <a:srgbClr val="FFFFFF"/>
                    </a:solidFill>
                  </a:tcPr>
                </a:tc>
                <a:tc>
                  <a:txBody>
                    <a:bodyPr/>
                    <a:lstStyle/>
                    <a:p>
                      <a:pPr algn="l"/>
                      <a:r>
                        <a:rPr sz="1200" b="0" i="0">
                          <a:solidFill>
                            <a:srgbClr val="16263F"/>
                          </a:solidFill>
                          <a:latin typeface="Calibri"/>
                        </a:rPr>
                        <a:t>Before I buy a second license, can you fix the error the first one keeps showing?</a:t>
                      </a:r>
                    </a:p>
                  </a:txBody>
                  <a:tcPr marL="73152" marR="73152" marT="27432" marB="27432" anchor="ctr">
                    <a:solidFill>
                      <a:srgbClr val="FFFFFF"/>
                    </a:solidFill>
                  </a:tcPr>
                </a:tc>
                <a:tc>
                  <a:txBody>
                    <a:bodyPr/>
                    <a:lstStyle/>
                    <a:p>
                      <a:pPr algn="ctr"/>
                      <a:r>
                        <a:rPr sz="1200" b="1" i="0">
                          <a:solidFill>
                            <a:srgbClr val="2A78D6"/>
                          </a:solidFill>
                          <a:latin typeface="Calibri"/>
                        </a:rPr>
                        <a:t>0</a:t>
                      </a:r>
                    </a:p>
                  </a:txBody>
                  <a:tcPr marL="73152" marR="73152" marT="27432" marB="27432" anchor="ctr">
                    <a:solidFill>
                      <a:srgbClr val="FFFFFF"/>
                    </a:solidFill>
                  </a:tcPr>
                </a:tc>
                <a:tc>
                  <a:txBody>
                    <a:bodyPr/>
                    <a:lstStyle/>
                    <a:p>
                      <a:pPr algn="ctr"/>
                      <a:r>
                        <a:rPr sz="1200" b="0" i="0">
                          <a:solidFill>
                            <a:srgbClr val="16263F"/>
                          </a:solidFill>
                          <a:latin typeface="Calibri"/>
                        </a:rPr>
                        <a:t>test</a:t>
                      </a:r>
                    </a:p>
                  </a:txBody>
                  <a:tcPr marL="73152" marR="73152" marT="27432" marB="27432" anchor="ctr">
                    <a:solidFill>
                      <a:srgbClr val="FFFFFF"/>
                    </a:solidFill>
                  </a:tcPr>
                </a:tc>
                <a:tc>
                  <a:txBody>
                    <a:bodyPr/>
                    <a:lstStyle/>
                    <a:p>
                      <a:pPr algn="ctr"/>
                      <a:r>
                        <a:rPr sz="1200" b="0" i="0">
                          <a:solidFill>
                            <a:srgbClr val="16263F"/>
                          </a:solidFill>
                          <a:latin typeface="Calibri"/>
                        </a:rPr>
                        <a:t>mixed</a:t>
                      </a:r>
                    </a:p>
                  </a:txBody>
                  <a:tcPr marL="73152" marR="73152" marT="27432" marB="27432" anchor="ctr">
                    <a:solidFill>
                      <a:srgbClr val="FFFFFF"/>
                    </a:solidFill>
                  </a:tcPr>
                </a:tc>
              </a:tr>
              <a:tr h="347472">
                <a:tc>
                  <a:txBody>
                    <a:bodyPr/>
                    <a:lstStyle/>
                    <a:p>
                      <a:pPr algn="ctr"/>
                      <a:r>
                        <a:rPr sz="1200" b="0" i="0">
                          <a:solidFill>
                            <a:srgbClr val="16263F"/>
                          </a:solidFill>
                          <a:latin typeface="Calibri"/>
                        </a:rPr>
                        <a:t>33</a:t>
                      </a:r>
                    </a:p>
                  </a:txBody>
                  <a:tcPr marL="73152" marR="73152" marT="27432" marB="27432" anchor="ctr">
                    <a:solidFill>
                      <a:srgbClr val="EEF3FA"/>
                    </a:solidFill>
                  </a:tcPr>
                </a:tc>
                <a:tc>
                  <a:txBody>
                    <a:bodyPr/>
                    <a:lstStyle/>
                    <a:p>
                      <a:pPr algn="l"/>
                      <a:r>
                        <a:rPr sz="1200" b="0" i="0">
                          <a:solidFill>
                            <a:srgbClr val="16263F"/>
                          </a:solidFill>
                          <a:latin typeface="Calibri"/>
                        </a:rPr>
                        <a:t>I'd like to buy three more licenses for my team.</a:t>
                      </a:r>
                    </a:p>
                  </a:txBody>
                  <a:tcPr marL="73152" marR="73152" marT="27432" marB="27432" anchor="ctr">
                    <a:solidFill>
                      <a:srgbClr val="EEF3FA"/>
                    </a:solidFill>
                  </a:tcPr>
                </a:tc>
                <a:tc>
                  <a:txBody>
                    <a:bodyPr/>
                    <a:lstStyle/>
                    <a:p>
                      <a:pPr algn="ctr"/>
                      <a:r>
                        <a:rPr sz="1200" b="1" i="0">
                          <a:solidFill>
                            <a:srgbClr val="EB6834"/>
                          </a:solidFill>
                          <a:latin typeface="Calibri"/>
                        </a:rPr>
                        <a:t>1</a:t>
                      </a:r>
                    </a:p>
                  </a:txBody>
                  <a:tcPr marL="73152" marR="73152" marT="27432" marB="27432" anchor="ctr">
                    <a:solidFill>
                      <a:srgbClr val="EEF3FA"/>
                    </a:solidFill>
                  </a:tcPr>
                </a:tc>
                <a:tc>
                  <a:txBody>
                    <a:bodyPr/>
                    <a:lstStyle/>
                    <a:p>
                      <a:pPr algn="ctr"/>
                      <a:r>
                        <a:rPr sz="1200" b="0" i="0">
                          <a:solidFill>
                            <a:srgbClr val="16263F"/>
                          </a:solidFill>
                          <a:latin typeface="Calibri"/>
                        </a:rPr>
                        <a:t>test</a:t>
                      </a:r>
                    </a:p>
                  </a:txBody>
                  <a:tcPr marL="73152" marR="73152" marT="27432" marB="27432" anchor="ctr">
                    <a:solidFill>
                      <a:srgbClr val="EEF3FA"/>
                    </a:solidFill>
                  </a:tcPr>
                </a:tc>
                <a:tc>
                  <a:txBody>
                    <a:bodyPr/>
                    <a:lstStyle/>
                    <a:p>
                      <a:pPr algn="ctr"/>
                      <a:r>
                        <a:rPr sz="1200" b="0" i="0">
                          <a:solidFill>
                            <a:srgbClr val="16263F"/>
                          </a:solidFill>
                          <a:latin typeface="Calibri"/>
                        </a:rPr>
                        <a:t>plain</a:t>
                      </a:r>
                    </a:p>
                  </a:txBody>
                  <a:tcPr marL="73152" marR="73152" marT="27432" marB="27432" anchor="ctr">
                    <a:solidFill>
                      <a:srgbClr val="EEF3FA"/>
                    </a:solidFill>
                  </a:tcPr>
                </a:tc>
              </a:tr>
              <a:tr h="347472">
                <a:tc>
                  <a:txBody>
                    <a:bodyPr/>
                    <a:lstStyle/>
                    <a:p>
                      <a:pPr algn="ctr"/>
                      <a:r>
                        <a:rPr sz="1200" b="0" i="0">
                          <a:solidFill>
                            <a:srgbClr val="16263F"/>
                          </a:solidFill>
                          <a:latin typeface="Calibri"/>
                        </a:rPr>
                        <a:t>43</a:t>
                      </a:r>
                    </a:p>
                  </a:txBody>
                  <a:tcPr marL="73152" marR="73152" marT="27432" marB="27432" anchor="ctr">
                    <a:solidFill>
                      <a:srgbClr val="FFFFFF"/>
                    </a:solidFill>
                  </a:tcPr>
                </a:tc>
                <a:tc>
                  <a:txBody>
                    <a:bodyPr/>
                    <a:lstStyle/>
                    <a:p>
                      <a:pPr algn="l"/>
                      <a:r>
                        <a:rPr sz="1200" b="0" i="0">
                          <a:solidFill>
                            <a:srgbClr val="16263F"/>
                          </a:solidFill>
                          <a:latin typeface="Calibri"/>
                        </a:rPr>
                        <a:t>Nothing is wrong with my service, I just want a faster plan.</a:t>
                      </a:r>
                    </a:p>
                  </a:txBody>
                  <a:tcPr marL="73152" marR="73152" marT="27432" marB="27432" anchor="ctr">
                    <a:solidFill>
                      <a:srgbClr val="FFFFFF"/>
                    </a:solidFill>
                  </a:tcPr>
                </a:tc>
                <a:tc>
                  <a:txBody>
                    <a:bodyPr/>
                    <a:lstStyle/>
                    <a:p>
                      <a:pPr algn="ctr"/>
                      <a:r>
                        <a:rPr sz="1200" b="1" i="0">
                          <a:solidFill>
                            <a:srgbClr val="EB6834"/>
                          </a:solidFill>
                          <a:latin typeface="Calibri"/>
                        </a:rPr>
                        <a:t>1</a:t>
                      </a:r>
                    </a:p>
                  </a:txBody>
                  <a:tcPr marL="73152" marR="73152" marT="27432" marB="27432" anchor="ctr">
                    <a:solidFill>
                      <a:srgbClr val="FFFFFF"/>
                    </a:solidFill>
                  </a:tcPr>
                </a:tc>
                <a:tc>
                  <a:txBody>
                    <a:bodyPr/>
                    <a:lstStyle/>
                    <a:p>
                      <a:pPr algn="ctr"/>
                      <a:r>
                        <a:rPr sz="1200" b="0" i="0">
                          <a:solidFill>
                            <a:srgbClr val="16263F"/>
                          </a:solidFill>
                          <a:latin typeface="Calibri"/>
                        </a:rPr>
                        <a:t>test</a:t>
                      </a:r>
                    </a:p>
                  </a:txBody>
                  <a:tcPr marL="73152" marR="73152" marT="27432" marB="27432" anchor="ctr">
                    <a:solidFill>
                      <a:srgbClr val="FFFFFF"/>
                    </a:solidFill>
                  </a:tcPr>
                </a:tc>
                <a:tc>
                  <a:txBody>
                    <a:bodyPr/>
                    <a:lstStyle/>
                    <a:p>
                      <a:pPr algn="ctr"/>
                      <a:r>
                        <a:rPr sz="1200" b="0" i="0">
                          <a:solidFill>
                            <a:srgbClr val="16263F"/>
                          </a:solidFill>
                          <a:latin typeface="Calibri"/>
                        </a:rPr>
                        <a:t>negation</a:t>
                      </a:r>
                    </a:p>
                  </a:txBody>
                  <a:tcPr marL="73152" marR="73152" marT="27432" marB="27432" anchor="ctr">
                    <a:solidFill>
                      <a:srgbClr val="FFFFFF"/>
                    </a:solidFill>
                  </a:tcPr>
                </a:tc>
              </a:tr>
              <a:tr h="347472">
                <a:tc>
                  <a:txBody>
                    <a:bodyPr/>
                    <a:lstStyle/>
                    <a:p>
                      <a:pPr algn="ctr"/>
                      <a:r>
                        <a:rPr sz="1200" b="0" i="0">
                          <a:solidFill>
                            <a:srgbClr val="16263F"/>
                          </a:solidFill>
                          <a:latin typeface="Calibri"/>
                        </a:rPr>
                        <a:t>53</a:t>
                      </a:r>
                    </a:p>
                  </a:txBody>
                  <a:tcPr marL="73152" marR="73152" marT="27432" marB="27432" anchor="ctr">
                    <a:solidFill>
                      <a:srgbClr val="EEF3FA"/>
                    </a:solidFill>
                  </a:tcPr>
                </a:tc>
                <a:tc>
                  <a:txBody>
                    <a:bodyPr/>
                    <a:lstStyle/>
                    <a:p>
                      <a:pPr algn="l"/>
                      <a:r>
                        <a:rPr sz="1200" b="0" i="0">
                          <a:solidFill>
                            <a:srgbClr val="16263F"/>
                          </a:solidFill>
                          <a:latin typeface="Calibri"/>
                        </a:rPr>
                        <a:t>My last issue was fixed quickly, thanks! Now I'd like to order the security add-on.</a:t>
                      </a:r>
                    </a:p>
                  </a:txBody>
                  <a:tcPr marL="73152" marR="73152" marT="27432" marB="27432" anchor="ctr">
                    <a:solidFill>
                      <a:srgbClr val="EEF3FA"/>
                    </a:solidFill>
                  </a:tcPr>
                </a:tc>
                <a:tc>
                  <a:txBody>
                    <a:bodyPr/>
                    <a:lstStyle/>
                    <a:p>
                      <a:pPr algn="ctr"/>
                      <a:r>
                        <a:rPr sz="1200" b="1" i="0">
                          <a:solidFill>
                            <a:srgbClr val="EB6834"/>
                          </a:solidFill>
                          <a:latin typeface="Calibri"/>
                        </a:rPr>
                        <a:t>1</a:t>
                      </a:r>
                    </a:p>
                  </a:txBody>
                  <a:tcPr marL="73152" marR="73152" marT="27432" marB="27432" anchor="ctr">
                    <a:solidFill>
                      <a:srgbClr val="EEF3FA"/>
                    </a:solidFill>
                  </a:tcPr>
                </a:tc>
                <a:tc>
                  <a:txBody>
                    <a:bodyPr/>
                    <a:lstStyle/>
                    <a:p>
                      <a:pPr algn="ctr"/>
                      <a:r>
                        <a:rPr sz="1200" b="0" i="0">
                          <a:solidFill>
                            <a:srgbClr val="16263F"/>
                          </a:solidFill>
                          <a:latin typeface="Calibri"/>
                        </a:rPr>
                        <a:t>train</a:t>
                      </a:r>
                    </a:p>
                  </a:txBody>
                  <a:tcPr marL="73152" marR="73152" marT="27432" marB="27432" anchor="ctr">
                    <a:solidFill>
                      <a:srgbClr val="EEF3FA"/>
                    </a:solidFill>
                  </a:tcPr>
                </a:tc>
                <a:tc>
                  <a:txBody>
                    <a:bodyPr/>
                    <a:lstStyle/>
                    <a:p>
                      <a:pPr algn="ctr"/>
                      <a:r>
                        <a:rPr sz="1200" b="0" i="0">
                          <a:solidFill>
                            <a:srgbClr val="16263F"/>
                          </a:solidFill>
                          <a:latin typeface="Calibri"/>
                        </a:rPr>
                        <a:t>mixed</a:t>
                      </a:r>
                    </a:p>
                  </a:txBody>
                  <a:tcPr marL="73152" marR="73152" marT="27432" marB="27432" anchor="ctr">
                    <a:solidFill>
                      <a:srgbClr val="EEF3FA"/>
                    </a:solidFill>
                  </a:tcPr>
                </a:tc>
              </a:tr>
            </a:tbl>
          </a:graphicData>
        </a:graphic>
      </p:graphicFrame>
      <p:sp>
        <p:nvSpPr>
          <p:cNvPr id="5" name="TextBox 4"/>
          <p:cNvSpPr txBox="1"/>
          <p:nvPr/>
        </p:nvSpPr>
        <p:spPr>
          <a:xfrm>
            <a:off x="548640" y="3895344"/>
            <a:ext cx="11094415" cy="292608"/>
          </a:xfrm>
          <a:prstGeom prst="rect">
            <a:avLst/>
          </a:prstGeom>
          <a:noFill/>
        </p:spPr>
        <p:txBody>
          <a:bodyPr wrap="square" lIns="0" rIns="0" tIns="0" bIns="0" anchor="t">
            <a:spAutoFit/>
          </a:bodyPr>
          <a:lstStyle/>
          <a:p>
            <a:pPr algn="l"/>
            <a:r>
              <a:rPr sz="1800" b="1" i="0">
                <a:solidFill>
                  <a:srgbClr val="16263F"/>
                </a:solidFill>
                <a:latin typeface="Calibri"/>
              </a:rPr>
              <a:t>How a decision model differs from a trained classifier</a:t>
            </a:r>
          </a:p>
        </p:txBody>
      </p:sp>
      <p:sp>
        <p:nvSpPr>
          <p:cNvPr id="6" name="Rounded Rectangle 5"/>
          <p:cNvSpPr/>
          <p:nvPr/>
        </p:nvSpPr>
        <p:spPr>
          <a:xfrm>
            <a:off x="548640" y="4279392"/>
            <a:ext cx="5272887" cy="1389888"/>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49808" y="4425696"/>
            <a:ext cx="4870551" cy="256032"/>
          </a:xfrm>
          <a:prstGeom prst="rect">
            <a:avLst/>
          </a:prstGeom>
          <a:noFill/>
        </p:spPr>
        <p:txBody>
          <a:bodyPr wrap="square" lIns="0" rIns="0" tIns="0" bIns="0" anchor="t">
            <a:spAutoFit/>
          </a:bodyPr>
          <a:lstStyle/>
          <a:p>
            <a:pPr algn="l"/>
            <a:r>
              <a:rPr sz="1400" b="1" i="0">
                <a:solidFill>
                  <a:srgbClr val="2A78D6"/>
                </a:solidFill>
                <a:latin typeface="Calibri"/>
              </a:rPr>
              <a:t>Trained classifier</a:t>
            </a:r>
          </a:p>
        </p:txBody>
      </p:sp>
      <p:sp>
        <p:nvSpPr>
          <p:cNvPr id="8" name="TextBox 7"/>
          <p:cNvSpPr txBox="1"/>
          <p:nvPr/>
        </p:nvSpPr>
        <p:spPr>
          <a:xfrm>
            <a:off x="749808" y="4736592"/>
            <a:ext cx="4870551" cy="859536"/>
          </a:xfrm>
          <a:prstGeom prst="rect">
            <a:avLst/>
          </a:prstGeom>
          <a:noFill/>
        </p:spPr>
        <p:txBody>
          <a:bodyPr wrap="square" lIns="0" rIns="0" tIns="0" bIns="0" anchor="t">
            <a:spAutoFit/>
          </a:bodyPr>
          <a:lstStyle/>
          <a:p>
            <a:pPr algn="l"/>
            <a:r>
              <a:rPr sz="1400" b="0" i="0">
                <a:solidFill>
                  <a:srgbClr val="16263F"/>
                </a:solidFill>
                <a:latin typeface="Calibri"/>
              </a:rPr>
              <a:t>Learns from our labels: it turns the message into numbers and fits a boundary. It knows only what the 40 training messages taught it.</a:t>
            </a:r>
          </a:p>
        </p:txBody>
      </p:sp>
      <p:sp>
        <p:nvSpPr>
          <p:cNvPr id="9" name="Rounded Rectangle 8"/>
          <p:cNvSpPr/>
          <p:nvPr/>
        </p:nvSpPr>
        <p:spPr>
          <a:xfrm>
            <a:off x="6370167" y="4279392"/>
            <a:ext cx="5272887" cy="1389888"/>
          </a:xfrm>
          <a:prstGeom prst="roundRect">
            <a:avLst/>
          </a:prstGeom>
          <a:solidFill>
            <a:srgbClr val="FD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71335" y="4425696"/>
            <a:ext cx="4870551" cy="256032"/>
          </a:xfrm>
          <a:prstGeom prst="rect">
            <a:avLst/>
          </a:prstGeom>
          <a:noFill/>
        </p:spPr>
        <p:txBody>
          <a:bodyPr wrap="square" lIns="0" rIns="0" tIns="0" bIns="0" anchor="t">
            <a:spAutoFit/>
          </a:bodyPr>
          <a:lstStyle/>
          <a:p>
            <a:pPr algn="l"/>
            <a:r>
              <a:rPr sz="1400" b="1" i="0">
                <a:solidFill>
                  <a:srgbClr val="EB6834"/>
                </a:solidFill>
                <a:latin typeface="Calibri"/>
              </a:rPr>
              <a:t>Decision model</a:t>
            </a:r>
          </a:p>
        </p:txBody>
      </p:sp>
      <p:sp>
        <p:nvSpPr>
          <p:cNvPr id="11" name="TextBox 10"/>
          <p:cNvSpPr txBox="1"/>
          <p:nvPr/>
        </p:nvSpPr>
        <p:spPr>
          <a:xfrm>
            <a:off x="6571335" y="4736592"/>
            <a:ext cx="4870551" cy="859536"/>
          </a:xfrm>
          <a:prstGeom prst="rect">
            <a:avLst/>
          </a:prstGeom>
          <a:noFill/>
        </p:spPr>
        <p:txBody>
          <a:bodyPr wrap="square" lIns="0" rIns="0" tIns="0" bIns="0" anchor="t">
            <a:spAutoFit/>
          </a:bodyPr>
          <a:lstStyle/>
          <a:p>
            <a:pPr algn="l"/>
            <a:r>
              <a:rPr sz="1400" b="0" i="0">
                <a:solidFill>
                  <a:srgbClr val="16263F"/>
                </a:solidFill>
                <a:latin typeface="Calibri"/>
              </a:rPr>
              <a:t>Already understands English: it is given the message plus routing instructions in words and returns a typed decision. Zero training examples - we tune wording, not weights.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20624"/>
            <a:ext cx="11094415" cy="566928"/>
          </a:xfrm>
          <a:prstGeom prst="rect">
            <a:avLst/>
          </a:prstGeom>
          <a:noFill/>
        </p:spPr>
        <p:txBody>
          <a:bodyPr wrap="square" lIns="0" rIns="0" tIns="0" bIns="0" anchor="t">
            <a:spAutoFit/>
          </a:bodyPr>
          <a:lstStyle/>
          <a:p>
            <a:pPr algn="l"/>
            <a:r>
              <a:rPr sz="3200" b="1" i="0">
                <a:solidFill>
                  <a:srgbClr val="16263F"/>
                </a:solidFill>
                <a:latin typeface="Calibri"/>
              </a:rPr>
              <a:t>The decision model: what we used and why</a:t>
            </a:r>
          </a:p>
        </p:txBody>
      </p:sp>
      <p:sp>
        <p:nvSpPr>
          <p:cNvPr id="3" name="Rounded Rectangle 2"/>
          <p:cNvSpPr/>
          <p:nvPr/>
        </p:nvSpPr>
        <p:spPr>
          <a:xfrm>
            <a:off x="10643057" y="457200"/>
            <a:ext cx="999998" cy="310896"/>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Student 2</a:t>
            </a:r>
          </a:p>
        </p:txBody>
      </p:sp>
      <p:sp>
        <p:nvSpPr>
          <p:cNvPr id="4" name="Oval 3"/>
          <p:cNvSpPr/>
          <p:nvPr/>
        </p:nvSpPr>
        <p:spPr>
          <a:xfrm>
            <a:off x="548640" y="1316736"/>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225296"/>
            <a:ext cx="6217920" cy="854964"/>
          </a:xfrm>
          <a:prstGeom prst="rect">
            <a:avLst/>
          </a:prstGeom>
          <a:noFill/>
        </p:spPr>
        <p:txBody>
          <a:bodyPr wrap="square" lIns="0" rIns="0" tIns="0" bIns="0" anchor="t">
            <a:spAutoFit/>
          </a:bodyPr>
          <a:lstStyle/>
          <a:p>
            <a:pPr algn="l"/>
            <a:r>
              <a:rPr sz="1800" b="0" i="0">
                <a:solidFill>
                  <a:srgbClr val="16263F"/>
                </a:solidFill>
                <a:latin typeface="Calibri"/>
              </a:rPr>
              <a:t>A Decision API like Jev (TypeSafe AI) takes message + instructions</a:t>
            </a:r>
          </a:p>
          <a:p>
            <a:pPr algn="l"/>
            <a:r>
              <a:rPr sz="1800" b="0" i="0">
                <a:solidFill>
                  <a:srgbClr val="16263F"/>
                </a:solidFill>
                <a:latin typeface="Calibri"/>
              </a:rPr>
              <a:t>and returns a typed decision. We had no paid API, so we used the</a:t>
            </a:r>
          </a:p>
          <a:p>
            <a:pPr algn="l"/>
            <a:r>
              <a:rPr sz="1800" b="0" i="0">
                <a:solidFill>
                  <a:srgbClr val="16263F"/>
                </a:solidFill>
                <a:latin typeface="Calibri"/>
              </a:rPr>
              <a:t>open-source equivalent with our own structured-output wrapper.</a:t>
            </a:r>
          </a:p>
        </p:txBody>
      </p:sp>
      <p:sp>
        <p:nvSpPr>
          <p:cNvPr id="6" name="Oval 5"/>
          <p:cNvSpPr/>
          <p:nvPr/>
        </p:nvSpPr>
        <p:spPr>
          <a:xfrm>
            <a:off x="548640" y="2391155"/>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299715"/>
            <a:ext cx="6217920" cy="854964"/>
          </a:xfrm>
          <a:prstGeom prst="rect">
            <a:avLst/>
          </a:prstGeom>
          <a:noFill/>
        </p:spPr>
        <p:txBody>
          <a:bodyPr wrap="square" lIns="0" rIns="0" tIns="0" bIns="0" anchor="t">
            <a:spAutoFit/>
          </a:bodyPr>
          <a:lstStyle/>
          <a:p>
            <a:pPr algn="l"/>
            <a:r>
              <a:rPr sz="1800" b="0" i="0">
                <a:solidFill>
                  <a:srgbClr val="16263F"/>
                </a:solidFill>
                <a:latin typeface="Calibri"/>
              </a:rPr>
              <a:t>Method: zero-shot via natural-language inference - the message is</a:t>
            </a:r>
          </a:p>
          <a:p>
            <a:pPr algn="l"/>
            <a:r>
              <a:rPr sz="1800" b="0" i="0">
                <a:solidFill>
                  <a:srgbClr val="16263F"/>
                </a:solidFill>
                <a:latin typeface="Calibri"/>
              </a:rPr>
              <a:t>the premise, each label becomes a hypothesis, entailment scores</a:t>
            </a:r>
          </a:p>
          <a:p>
            <a:pPr algn="l"/>
            <a:r>
              <a:rPr sz="1800" b="0" i="0">
                <a:solidFill>
                  <a:srgbClr val="16263F"/>
                </a:solidFill>
                <a:latin typeface="Calibri"/>
              </a:rPr>
              <a:t>are compared.</a:t>
            </a:r>
          </a:p>
        </p:txBody>
      </p:sp>
      <p:sp>
        <p:nvSpPr>
          <p:cNvPr id="8" name="Rounded Rectangle 7"/>
          <p:cNvSpPr/>
          <p:nvPr/>
        </p:nvSpPr>
        <p:spPr>
          <a:xfrm>
            <a:off x="548640" y="3017520"/>
            <a:ext cx="6492240" cy="3145536"/>
          </a:xfrm>
          <a:prstGeom prst="roundRect">
            <a:avLst/>
          </a:prstGeom>
          <a:solidFill>
            <a:srgbClr val="FD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3236976"/>
            <a:ext cx="5980175" cy="384048"/>
          </a:xfrm>
          <a:prstGeom prst="rect">
            <a:avLst/>
          </a:prstGeom>
          <a:noFill/>
        </p:spPr>
        <p:txBody>
          <a:bodyPr wrap="square" lIns="0" rIns="0" tIns="0" bIns="0" anchor="t">
            <a:spAutoFit/>
          </a:bodyPr>
          <a:lstStyle/>
          <a:p>
            <a:pPr algn="l"/>
            <a:r>
              <a:rPr sz="2200" b="1" i="0">
                <a:solidFill>
                  <a:srgbClr val="16263F"/>
                </a:solidFill>
                <a:latin typeface="Courier New"/>
              </a:rPr>
              <a:t>facebook/bart-large-mnli</a:t>
            </a:r>
          </a:p>
        </p:txBody>
      </p:sp>
      <p:sp>
        <p:nvSpPr>
          <p:cNvPr id="10" name="TextBox 9"/>
          <p:cNvSpPr txBox="1"/>
          <p:nvPr/>
        </p:nvSpPr>
        <p:spPr>
          <a:xfrm>
            <a:off x="804672" y="3712463"/>
            <a:ext cx="1417320" cy="237744"/>
          </a:xfrm>
          <a:prstGeom prst="rect">
            <a:avLst/>
          </a:prstGeom>
          <a:noFill/>
        </p:spPr>
        <p:txBody>
          <a:bodyPr wrap="square" lIns="0" rIns="0" tIns="0" bIns="0" anchor="t">
            <a:spAutoFit/>
          </a:bodyPr>
          <a:lstStyle/>
          <a:p>
            <a:pPr algn="l"/>
            <a:r>
              <a:rPr sz="1400" b="1" i="0">
                <a:solidFill>
                  <a:srgbClr val="EB6834"/>
                </a:solidFill>
                <a:latin typeface="Calibri"/>
              </a:rPr>
              <a:t>Architecture</a:t>
            </a:r>
          </a:p>
        </p:txBody>
      </p:sp>
      <p:sp>
        <p:nvSpPr>
          <p:cNvPr id="11" name="TextBox 10"/>
          <p:cNvSpPr txBox="1"/>
          <p:nvPr/>
        </p:nvSpPr>
        <p:spPr>
          <a:xfrm>
            <a:off x="2286000" y="3712463"/>
            <a:ext cx="4498848" cy="475488"/>
          </a:xfrm>
          <a:prstGeom prst="rect">
            <a:avLst/>
          </a:prstGeom>
          <a:noFill/>
        </p:spPr>
        <p:txBody>
          <a:bodyPr wrap="square" lIns="0" rIns="0" tIns="0" bIns="0" anchor="t">
            <a:spAutoFit/>
          </a:bodyPr>
          <a:lstStyle/>
          <a:p>
            <a:pPr algn="l"/>
            <a:r>
              <a:rPr sz="1400" b="0" i="0">
                <a:solidFill>
                  <a:srgbClr val="16263F"/>
                </a:solidFill>
                <a:latin typeface="Calibri"/>
              </a:rPr>
              <a:t>BART-large, 407M parameters, fine-tuned on MultiNLI</a:t>
            </a:r>
          </a:p>
        </p:txBody>
      </p:sp>
      <p:sp>
        <p:nvSpPr>
          <p:cNvPr id="12" name="TextBox 11"/>
          <p:cNvSpPr txBox="1"/>
          <p:nvPr/>
        </p:nvSpPr>
        <p:spPr>
          <a:xfrm>
            <a:off x="804672" y="4279392"/>
            <a:ext cx="1417320" cy="237744"/>
          </a:xfrm>
          <a:prstGeom prst="rect">
            <a:avLst/>
          </a:prstGeom>
          <a:noFill/>
        </p:spPr>
        <p:txBody>
          <a:bodyPr wrap="square" lIns="0" rIns="0" tIns="0" bIns="0" anchor="t">
            <a:spAutoFit/>
          </a:bodyPr>
          <a:lstStyle/>
          <a:p>
            <a:pPr algn="l"/>
            <a:r>
              <a:rPr sz="1400" b="1" i="0">
                <a:solidFill>
                  <a:srgbClr val="EB6834"/>
                </a:solidFill>
                <a:latin typeface="Calibri"/>
              </a:rPr>
              <a:t>License</a:t>
            </a:r>
          </a:p>
        </p:txBody>
      </p:sp>
      <p:sp>
        <p:nvSpPr>
          <p:cNvPr id="13" name="TextBox 12"/>
          <p:cNvSpPr txBox="1"/>
          <p:nvPr/>
        </p:nvSpPr>
        <p:spPr>
          <a:xfrm>
            <a:off x="2286000" y="4279392"/>
            <a:ext cx="4498848" cy="475488"/>
          </a:xfrm>
          <a:prstGeom prst="rect">
            <a:avLst/>
          </a:prstGeom>
          <a:noFill/>
        </p:spPr>
        <p:txBody>
          <a:bodyPr wrap="square" lIns="0" rIns="0" tIns="0" bIns="0" anchor="t">
            <a:spAutoFit/>
          </a:bodyPr>
          <a:lstStyle/>
          <a:p>
            <a:pPr algn="l"/>
            <a:r>
              <a:rPr sz="1400" b="0" i="0">
                <a:solidFill>
                  <a:srgbClr val="16263F"/>
                </a:solidFill>
                <a:latin typeface="Calibri"/>
              </a:rPr>
              <a:t>MIT (weights); MultiNLI under its own permissive terms</a:t>
            </a:r>
          </a:p>
        </p:txBody>
      </p:sp>
      <p:sp>
        <p:nvSpPr>
          <p:cNvPr id="14" name="TextBox 13"/>
          <p:cNvSpPr txBox="1"/>
          <p:nvPr/>
        </p:nvSpPr>
        <p:spPr>
          <a:xfrm>
            <a:off x="804672" y="4846320"/>
            <a:ext cx="1417320" cy="237744"/>
          </a:xfrm>
          <a:prstGeom prst="rect">
            <a:avLst/>
          </a:prstGeom>
          <a:noFill/>
        </p:spPr>
        <p:txBody>
          <a:bodyPr wrap="square" lIns="0" rIns="0" tIns="0" bIns="0" anchor="t">
            <a:spAutoFit/>
          </a:bodyPr>
          <a:lstStyle/>
          <a:p>
            <a:pPr algn="l"/>
            <a:r>
              <a:rPr sz="1400" b="1" i="0">
                <a:solidFill>
                  <a:srgbClr val="EB6834"/>
                </a:solidFill>
                <a:latin typeface="Calibri"/>
              </a:rPr>
              <a:t>Setup</a:t>
            </a:r>
          </a:p>
        </p:txBody>
      </p:sp>
      <p:sp>
        <p:nvSpPr>
          <p:cNvPr id="15" name="TextBox 14"/>
          <p:cNvSpPr txBox="1"/>
          <p:nvPr/>
        </p:nvSpPr>
        <p:spPr>
          <a:xfrm>
            <a:off x="2286000" y="4846320"/>
            <a:ext cx="4498848" cy="475488"/>
          </a:xfrm>
          <a:prstGeom prst="rect">
            <a:avLst/>
          </a:prstGeom>
          <a:noFill/>
        </p:spPr>
        <p:txBody>
          <a:bodyPr wrap="square" lIns="0" rIns="0" tIns="0" bIns="0" anchor="t">
            <a:spAutoFit/>
          </a:bodyPr>
          <a:lstStyle/>
          <a:p>
            <a:pPr algn="l"/>
            <a:r>
              <a:rPr sz="1400" b="0" i="0">
                <a:solidFill>
                  <a:srgbClr val="16263F"/>
                </a:solidFill>
                <a:latin typeface="Calibri"/>
              </a:rPr>
              <a:t>local HuggingFace cache, HF_HUB_OFFLINE=1</a:t>
            </a:r>
          </a:p>
        </p:txBody>
      </p:sp>
      <p:sp>
        <p:nvSpPr>
          <p:cNvPr id="16" name="TextBox 15"/>
          <p:cNvSpPr txBox="1"/>
          <p:nvPr/>
        </p:nvSpPr>
        <p:spPr>
          <a:xfrm>
            <a:off x="804672" y="5413248"/>
            <a:ext cx="1417320" cy="237744"/>
          </a:xfrm>
          <a:prstGeom prst="rect">
            <a:avLst/>
          </a:prstGeom>
          <a:noFill/>
        </p:spPr>
        <p:txBody>
          <a:bodyPr wrap="square" lIns="0" rIns="0" tIns="0" bIns="0" anchor="t">
            <a:spAutoFit/>
          </a:bodyPr>
          <a:lstStyle/>
          <a:p>
            <a:pPr algn="l"/>
            <a:r>
              <a:rPr sz="1400" b="1" i="0">
                <a:solidFill>
                  <a:srgbClr val="EB6834"/>
                </a:solidFill>
                <a:latin typeface="Calibri"/>
              </a:rPr>
              <a:t>Runs</a:t>
            </a:r>
          </a:p>
        </p:txBody>
      </p:sp>
      <p:sp>
        <p:nvSpPr>
          <p:cNvPr id="17" name="TextBox 16"/>
          <p:cNvSpPr txBox="1"/>
          <p:nvPr/>
        </p:nvSpPr>
        <p:spPr>
          <a:xfrm>
            <a:off x="2286000" y="5413248"/>
            <a:ext cx="4498848" cy="475488"/>
          </a:xfrm>
          <a:prstGeom prst="rect">
            <a:avLst/>
          </a:prstGeom>
          <a:noFill/>
        </p:spPr>
        <p:txBody>
          <a:bodyPr wrap="square" lIns="0" rIns="0" tIns="0" bIns="0" anchor="t">
            <a:spAutoFit/>
          </a:bodyPr>
          <a:lstStyle/>
          <a:p>
            <a:pPr algn="l"/>
            <a:r>
              <a:rPr sz="1400" b="0" i="0">
                <a:solidFill>
                  <a:srgbClr val="16263F"/>
                </a:solidFill>
                <a:latin typeface="Calibri"/>
              </a:rPr>
              <a:t>CPU, no API key, no network call, no training on our data</a:t>
            </a:r>
          </a:p>
        </p:txBody>
      </p:sp>
      <p:sp>
        <p:nvSpPr>
          <p:cNvPr id="18" name="Rounded Rectangle 17"/>
          <p:cNvSpPr/>
          <p:nvPr/>
        </p:nvSpPr>
        <p:spPr>
          <a:xfrm>
            <a:off x="7498079" y="1225296"/>
            <a:ext cx="4144975" cy="493776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35823" y="1499616"/>
            <a:ext cx="3669487" cy="512064"/>
          </a:xfrm>
          <a:prstGeom prst="rect">
            <a:avLst/>
          </a:prstGeom>
          <a:noFill/>
        </p:spPr>
        <p:txBody>
          <a:bodyPr wrap="square" lIns="0" rIns="0" tIns="0" bIns="0" anchor="t">
            <a:spAutoFit/>
          </a:bodyPr>
          <a:lstStyle/>
          <a:p>
            <a:pPr algn="ctr"/>
            <a:r>
              <a:rPr sz="1400" b="0" i="0">
                <a:solidFill>
                  <a:srgbClr val="4A556B"/>
                </a:solidFill>
                <a:latin typeface="Calibri"/>
              </a:rPr>
              <a:t>Message + routing instructions</a:t>
            </a:r>
          </a:p>
        </p:txBody>
      </p:sp>
      <p:sp>
        <p:nvSpPr>
          <p:cNvPr id="20" name="Down Arrow 19"/>
          <p:cNvSpPr/>
          <p:nvPr/>
        </p:nvSpPr>
        <p:spPr>
          <a:xfrm>
            <a:off x="9488271" y="1847088"/>
            <a:ext cx="164592" cy="310896"/>
          </a:xfrm>
          <a:prstGeom prst="downArrow">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35823" y="2249424"/>
            <a:ext cx="3669487" cy="694944"/>
          </a:xfrm>
          <a:prstGeom prst="roundRect">
            <a:avLst/>
          </a:prstGeom>
          <a:solidFill>
            <a:srgbClr val="FFFFFF"/>
          </a:solidFill>
          <a:ln w="15875">
            <a:solidFill>
              <a:srgbClr val="16263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827263" y="2468880"/>
            <a:ext cx="3486607" cy="274320"/>
          </a:xfrm>
          <a:prstGeom prst="rect">
            <a:avLst/>
          </a:prstGeom>
          <a:noFill/>
        </p:spPr>
        <p:txBody>
          <a:bodyPr wrap="square" lIns="0" rIns="0" tIns="0" bIns="0" anchor="t">
            <a:spAutoFit/>
          </a:bodyPr>
          <a:lstStyle/>
          <a:p>
            <a:pPr algn="ctr"/>
            <a:r>
              <a:rPr sz="1400" b="1" i="0">
                <a:solidFill>
                  <a:srgbClr val="16263F"/>
                </a:solidFill>
                <a:latin typeface="Calibri"/>
              </a:rPr>
              <a:t>Zero-shot NLI model</a:t>
            </a:r>
          </a:p>
        </p:txBody>
      </p:sp>
      <p:sp>
        <p:nvSpPr>
          <p:cNvPr id="23" name="Down Arrow 22"/>
          <p:cNvSpPr/>
          <p:nvPr/>
        </p:nvSpPr>
        <p:spPr>
          <a:xfrm>
            <a:off x="9488271" y="3017520"/>
            <a:ext cx="164592" cy="310896"/>
          </a:xfrm>
          <a:prstGeom prst="downArrow">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735823" y="3419856"/>
            <a:ext cx="3669487" cy="694944"/>
          </a:xfrm>
          <a:prstGeom prst="roundRect">
            <a:avLst/>
          </a:prstGeom>
          <a:solidFill>
            <a:srgbClr val="FFFFFF"/>
          </a:solidFill>
          <a:ln w="15875">
            <a:solidFill>
              <a:srgbClr val="16263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27263" y="3639312"/>
            <a:ext cx="3486607" cy="274320"/>
          </a:xfrm>
          <a:prstGeom prst="rect">
            <a:avLst/>
          </a:prstGeom>
          <a:noFill/>
        </p:spPr>
        <p:txBody>
          <a:bodyPr wrap="square" lIns="0" rIns="0" tIns="0" bIns="0" anchor="t">
            <a:spAutoFit/>
          </a:bodyPr>
          <a:lstStyle/>
          <a:p>
            <a:pPr algn="ctr"/>
            <a:r>
              <a:rPr sz="1400" b="1" i="0">
                <a:solidFill>
                  <a:srgbClr val="16263F"/>
                </a:solidFill>
                <a:latin typeface="Calibri"/>
              </a:rPr>
              <a:t>Structured-output wrapper</a:t>
            </a:r>
          </a:p>
        </p:txBody>
      </p:sp>
      <p:sp>
        <p:nvSpPr>
          <p:cNvPr id="26" name="Down Arrow 25"/>
          <p:cNvSpPr/>
          <p:nvPr/>
        </p:nvSpPr>
        <p:spPr>
          <a:xfrm>
            <a:off x="9488271" y="4187951"/>
            <a:ext cx="164592" cy="310896"/>
          </a:xfrm>
          <a:prstGeom prst="downArrow">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35823" y="4590288"/>
            <a:ext cx="3669487" cy="694944"/>
          </a:xfrm>
          <a:prstGeom prst="roundRect">
            <a:avLst/>
          </a:prstGeom>
          <a:solidFill>
            <a:srgbClr val="FFFFFF"/>
          </a:solidFill>
          <a:ln w="1587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827263" y="4809744"/>
            <a:ext cx="3486607" cy="274320"/>
          </a:xfrm>
          <a:prstGeom prst="rect">
            <a:avLst/>
          </a:prstGeom>
          <a:noFill/>
        </p:spPr>
        <p:txBody>
          <a:bodyPr wrap="square" lIns="0" rIns="0" tIns="0" bIns="0" anchor="t">
            <a:spAutoFit/>
          </a:bodyPr>
          <a:lstStyle/>
          <a:p>
            <a:pPr algn="ctr"/>
            <a:r>
              <a:rPr sz="1400" b="1" i="0">
                <a:solidFill>
                  <a:srgbClr val="EB6834"/>
                </a:solidFill>
                <a:latin typeface="Calibri"/>
              </a:rPr>
              <a:t>Typed decision + flag</a:t>
            </a:r>
          </a:p>
        </p:txBody>
      </p:sp>
      <p:sp>
        <p:nvSpPr>
          <p:cNvPr id="29" name="TextBox 28"/>
          <p:cNvSpPr txBox="1"/>
          <p:nvPr/>
        </p:nvSpPr>
        <p:spPr>
          <a:xfrm>
            <a:off x="7735823" y="5504688"/>
            <a:ext cx="3669487" cy="274320"/>
          </a:xfrm>
          <a:prstGeom prst="rect">
            <a:avLst/>
          </a:prstGeom>
          <a:noFill/>
        </p:spPr>
        <p:txBody>
          <a:bodyPr wrap="square" lIns="0" rIns="0" tIns="0" bIns="0" anchor="t">
            <a:spAutoFit/>
          </a:bodyPr>
          <a:lstStyle/>
          <a:p>
            <a:pPr algn="ctr"/>
            <a:r>
              <a:rPr sz="1200" b="0" i="0">
                <a:solidFill>
                  <a:srgbClr val="767F8F"/>
                </a:solidFill>
                <a:latin typeface="Courier New"/>
              </a:rPr>
              <a:t>customer_service -&gt; 0   |   sales -&gt;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20624"/>
            <a:ext cx="11094415" cy="566928"/>
          </a:xfrm>
          <a:prstGeom prst="rect">
            <a:avLst/>
          </a:prstGeom>
          <a:noFill/>
        </p:spPr>
        <p:txBody>
          <a:bodyPr wrap="square" lIns="0" rIns="0" tIns="0" bIns="0" anchor="t">
            <a:spAutoFit/>
          </a:bodyPr>
          <a:lstStyle/>
          <a:p>
            <a:pPr algn="l"/>
            <a:r>
              <a:rPr sz="3200" b="1" i="0">
                <a:solidFill>
                  <a:srgbClr val="16263F"/>
                </a:solidFill>
                <a:latin typeface="Calibri"/>
              </a:rPr>
              <a:t>Instructions, and output validation</a:t>
            </a:r>
          </a:p>
        </p:txBody>
      </p:sp>
      <p:sp>
        <p:nvSpPr>
          <p:cNvPr id="3" name="Rounded Rectangle 2"/>
          <p:cNvSpPr/>
          <p:nvPr/>
        </p:nvSpPr>
        <p:spPr>
          <a:xfrm>
            <a:off x="10643057" y="457200"/>
            <a:ext cx="999998" cy="310896"/>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Student 2</a:t>
            </a:r>
          </a:p>
        </p:txBody>
      </p:sp>
      <p:sp>
        <p:nvSpPr>
          <p:cNvPr id="4" name="TextBox 3"/>
          <p:cNvSpPr txBox="1"/>
          <p:nvPr/>
        </p:nvSpPr>
        <p:spPr>
          <a:xfrm>
            <a:off x="548640" y="1188720"/>
            <a:ext cx="6126480" cy="274320"/>
          </a:xfrm>
          <a:prstGeom prst="rect">
            <a:avLst/>
          </a:prstGeom>
          <a:noFill/>
        </p:spPr>
        <p:txBody>
          <a:bodyPr wrap="square" lIns="0" rIns="0" tIns="0" bIns="0" anchor="t">
            <a:spAutoFit/>
          </a:bodyPr>
          <a:lstStyle/>
          <a:p>
            <a:pPr algn="l"/>
            <a:r>
              <a:rPr sz="1400" b="0" i="0">
                <a:solidFill>
                  <a:srgbClr val="4A556B"/>
                </a:solidFill>
                <a:latin typeface="Calibri"/>
              </a:rPr>
              <a:t>The instructions are the template + the two label descriptions</a:t>
            </a:r>
          </a:p>
        </p:txBody>
      </p:sp>
      <p:sp>
        <p:nvSpPr>
          <p:cNvPr id="5" name="Rounded Rectangle 4"/>
          <p:cNvSpPr/>
          <p:nvPr/>
        </p:nvSpPr>
        <p:spPr>
          <a:xfrm>
            <a:off x="548640" y="1554480"/>
            <a:ext cx="6126480" cy="2212848"/>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700784"/>
            <a:ext cx="5760720" cy="1920240"/>
          </a:xfrm>
          <a:prstGeom prst="rect">
            <a:avLst/>
          </a:prstGeom>
          <a:noFill/>
        </p:spPr>
        <p:txBody>
          <a:bodyPr wrap="square" lIns="0" rIns="0" tIns="0" bIns="0" anchor="t">
            <a:spAutoFit/>
          </a:bodyPr>
          <a:lstStyle/>
          <a:p>
            <a:pPr algn="l"/>
            <a:r>
              <a:rPr sz="1100" b="0" i="0">
                <a:solidFill>
                  <a:srgbClr val="16263F"/>
                </a:solidFill>
                <a:latin typeface="Courier New"/>
              </a:rPr>
              <a:t>"This customer message is about {}."</a:t>
            </a:r>
          </a:p>
          <a:p>
            <a:pPr algn="l"/>
            <a:r>
              <a:rPr sz="1100" b="0" i="0">
                <a:solidFill>
                  <a:srgbClr val="16263F"/>
                </a:solidFill>
                <a:latin typeface="Courier New"/>
              </a:rPr>
              <a:t/>
            </a:r>
          </a:p>
          <a:p>
            <a:pPr algn="l"/>
            <a:r>
              <a:rPr sz="1100" b="0" i="0">
                <a:solidFill>
                  <a:srgbClr val="16263F"/>
                </a:solidFill>
                <a:latin typeface="Courier New"/>
              </a:rPr>
              <a:t>customer_service -&gt; "a problem with a service</a:t>
            </a:r>
          </a:p>
          <a:p>
            <a:pPr algn="l"/>
            <a:r>
              <a:rPr sz="1100" b="0" i="0">
                <a:solidFill>
                  <a:srgbClr val="16263F"/>
                </a:solidFill>
                <a:latin typeface="Courier New"/>
              </a:rPr>
              <a:t>                    the customer already has"</a:t>
            </a:r>
          </a:p>
          <a:p>
            <a:pPr algn="l"/>
            <a:r>
              <a:rPr sz="1100" b="0" i="0">
                <a:solidFill>
                  <a:srgbClr val="16263F"/>
                </a:solidFill>
                <a:latin typeface="Courier New"/>
              </a:rPr>
              <a:t>sales            -&gt; "buying a new product, a price</a:t>
            </a:r>
          </a:p>
          <a:p>
            <a:pPr algn="l"/>
            <a:r>
              <a:rPr sz="1100" b="0" i="0">
                <a:solidFill>
                  <a:srgbClr val="16263F"/>
                </a:solidFill>
                <a:latin typeface="Courier New"/>
              </a:rPr>
              <a:t>                    or an upgrade"</a:t>
            </a:r>
          </a:p>
          <a:p>
            <a:pPr algn="l"/>
            <a:r>
              <a:rPr sz="1100" b="0" i="0">
                <a:solidFill>
                  <a:srgbClr val="16263F"/>
                </a:solidFill>
                <a:latin typeface="Courier New"/>
              </a:rPr>
              <a:t/>
            </a:r>
          </a:p>
          <a:p>
            <a:pPr algn="l"/>
            <a:r>
              <a:rPr sz="1100" b="0" i="0">
                <a:solidFill>
                  <a:srgbClr val="16263F"/>
                </a:solidFill>
                <a:latin typeface="Courier New"/>
              </a:rPr>
              <a:t>threshold = 0.41</a:t>
            </a:r>
          </a:p>
        </p:txBody>
      </p:sp>
      <p:sp>
        <p:nvSpPr>
          <p:cNvPr id="7" name="TextBox 6"/>
          <p:cNvSpPr txBox="1"/>
          <p:nvPr/>
        </p:nvSpPr>
        <p:spPr>
          <a:xfrm>
            <a:off x="548640" y="3968496"/>
            <a:ext cx="6126480" cy="274320"/>
          </a:xfrm>
          <a:prstGeom prst="rect">
            <a:avLst/>
          </a:prstGeom>
          <a:noFill/>
        </p:spPr>
        <p:txBody>
          <a:bodyPr wrap="square" lIns="0" rIns="0" tIns="0" bIns="0" anchor="t">
            <a:spAutoFit/>
          </a:bodyPr>
          <a:lstStyle/>
          <a:p>
            <a:pPr algn="l"/>
            <a:r>
              <a:rPr sz="1400" b="0" i="0">
                <a:solidFill>
                  <a:srgbClr val="4A556B"/>
                </a:solidFill>
                <a:latin typeface="Calibri"/>
              </a:rPr>
              <a:t>4 instruction variants, scored on the training split only</a:t>
            </a:r>
          </a:p>
        </p:txBody>
      </p:sp>
      <p:sp>
        <p:nvSpPr>
          <p:cNvPr id="8" name="Rounded Rectangle 7"/>
          <p:cNvSpPr/>
          <p:nvPr/>
        </p:nvSpPr>
        <p:spPr>
          <a:xfrm>
            <a:off x="548640" y="4297680"/>
            <a:ext cx="1408176" cy="987552"/>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3503" y="4425696"/>
            <a:ext cx="1298448" cy="384048"/>
          </a:xfrm>
          <a:prstGeom prst="rect">
            <a:avLst/>
          </a:prstGeom>
          <a:noFill/>
        </p:spPr>
        <p:txBody>
          <a:bodyPr wrap="square" lIns="0" rIns="0" tIns="0" bIns="0" anchor="t">
            <a:spAutoFit/>
          </a:bodyPr>
          <a:lstStyle/>
          <a:p>
            <a:pPr algn="ctr"/>
            <a:r>
              <a:rPr sz="2200" b="1" i="0">
                <a:solidFill>
                  <a:srgbClr val="16263F"/>
                </a:solidFill>
                <a:latin typeface="Calibri"/>
              </a:rPr>
              <a:t>0.750</a:t>
            </a:r>
          </a:p>
        </p:txBody>
      </p:sp>
      <p:sp>
        <p:nvSpPr>
          <p:cNvPr id="10" name="TextBox 9"/>
          <p:cNvSpPr txBox="1"/>
          <p:nvPr/>
        </p:nvSpPr>
        <p:spPr>
          <a:xfrm>
            <a:off x="585216" y="4882896"/>
            <a:ext cx="1335024" cy="274320"/>
          </a:xfrm>
          <a:prstGeom prst="rect">
            <a:avLst/>
          </a:prstGeom>
          <a:noFill/>
        </p:spPr>
        <p:txBody>
          <a:bodyPr wrap="square" lIns="0" rIns="0" tIns="0" bIns="0" anchor="t">
            <a:spAutoFit/>
          </a:bodyPr>
          <a:lstStyle/>
          <a:p>
            <a:pPr algn="ctr"/>
            <a:r>
              <a:rPr sz="1100" b="0" i="0">
                <a:solidFill>
                  <a:srgbClr val="4A556B"/>
                </a:solidFill>
                <a:latin typeface="Calibri"/>
              </a:rPr>
              <a:t>variant A</a:t>
            </a:r>
          </a:p>
        </p:txBody>
      </p:sp>
      <p:sp>
        <p:nvSpPr>
          <p:cNvPr id="11" name="Rounded Rectangle 10"/>
          <p:cNvSpPr/>
          <p:nvPr/>
        </p:nvSpPr>
        <p:spPr>
          <a:xfrm>
            <a:off x="2121408" y="4297680"/>
            <a:ext cx="1408176" cy="987552"/>
          </a:xfrm>
          <a:prstGeom prst="roundRect">
            <a:avLst/>
          </a:prstGeom>
          <a:solidFill>
            <a:srgbClr val="FD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76272" y="4425696"/>
            <a:ext cx="1298448" cy="384048"/>
          </a:xfrm>
          <a:prstGeom prst="rect">
            <a:avLst/>
          </a:prstGeom>
          <a:noFill/>
        </p:spPr>
        <p:txBody>
          <a:bodyPr wrap="square" lIns="0" rIns="0" tIns="0" bIns="0" anchor="t">
            <a:spAutoFit/>
          </a:bodyPr>
          <a:lstStyle/>
          <a:p>
            <a:pPr algn="ctr"/>
            <a:r>
              <a:rPr sz="2200" b="1" i="0">
                <a:solidFill>
                  <a:srgbClr val="EB6834"/>
                </a:solidFill>
                <a:latin typeface="Calibri"/>
              </a:rPr>
              <a:t>0.875</a:t>
            </a:r>
          </a:p>
        </p:txBody>
      </p:sp>
      <p:sp>
        <p:nvSpPr>
          <p:cNvPr id="13" name="TextBox 12"/>
          <p:cNvSpPr txBox="1"/>
          <p:nvPr/>
        </p:nvSpPr>
        <p:spPr>
          <a:xfrm>
            <a:off x="2157984" y="4882896"/>
            <a:ext cx="1335024" cy="274320"/>
          </a:xfrm>
          <a:prstGeom prst="rect">
            <a:avLst/>
          </a:prstGeom>
          <a:noFill/>
        </p:spPr>
        <p:txBody>
          <a:bodyPr wrap="square" lIns="0" rIns="0" tIns="0" bIns="0" anchor="t">
            <a:spAutoFit/>
          </a:bodyPr>
          <a:lstStyle/>
          <a:p>
            <a:pPr algn="ctr"/>
            <a:r>
              <a:rPr sz="1100" b="0" i="0">
                <a:solidFill>
                  <a:srgbClr val="4A556B"/>
                </a:solidFill>
                <a:latin typeface="Calibri"/>
              </a:rPr>
              <a:t>variant B (chosen)</a:t>
            </a:r>
          </a:p>
        </p:txBody>
      </p:sp>
      <p:sp>
        <p:nvSpPr>
          <p:cNvPr id="14" name="Rounded Rectangle 13"/>
          <p:cNvSpPr/>
          <p:nvPr/>
        </p:nvSpPr>
        <p:spPr>
          <a:xfrm>
            <a:off x="3694176" y="4297680"/>
            <a:ext cx="1408176" cy="987552"/>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49039" y="4425696"/>
            <a:ext cx="1298448" cy="384048"/>
          </a:xfrm>
          <a:prstGeom prst="rect">
            <a:avLst/>
          </a:prstGeom>
          <a:noFill/>
        </p:spPr>
        <p:txBody>
          <a:bodyPr wrap="square" lIns="0" rIns="0" tIns="0" bIns="0" anchor="t">
            <a:spAutoFit/>
          </a:bodyPr>
          <a:lstStyle/>
          <a:p>
            <a:pPr algn="ctr"/>
            <a:r>
              <a:rPr sz="2200" b="1" i="0">
                <a:solidFill>
                  <a:srgbClr val="16263F"/>
                </a:solidFill>
                <a:latin typeface="Calibri"/>
              </a:rPr>
              <a:t>0.750</a:t>
            </a:r>
          </a:p>
        </p:txBody>
      </p:sp>
      <p:sp>
        <p:nvSpPr>
          <p:cNvPr id="16" name="TextBox 15"/>
          <p:cNvSpPr txBox="1"/>
          <p:nvPr/>
        </p:nvSpPr>
        <p:spPr>
          <a:xfrm>
            <a:off x="3730752" y="4882896"/>
            <a:ext cx="1335024" cy="274320"/>
          </a:xfrm>
          <a:prstGeom prst="rect">
            <a:avLst/>
          </a:prstGeom>
          <a:noFill/>
        </p:spPr>
        <p:txBody>
          <a:bodyPr wrap="square" lIns="0" rIns="0" tIns="0" bIns="0" anchor="t">
            <a:spAutoFit/>
          </a:bodyPr>
          <a:lstStyle/>
          <a:p>
            <a:pPr algn="ctr"/>
            <a:r>
              <a:rPr sz="1100" b="0" i="0">
                <a:solidFill>
                  <a:srgbClr val="4A556B"/>
                </a:solidFill>
                <a:latin typeface="Calibri"/>
              </a:rPr>
              <a:t>variant C</a:t>
            </a:r>
          </a:p>
        </p:txBody>
      </p:sp>
      <p:sp>
        <p:nvSpPr>
          <p:cNvPr id="17" name="Rounded Rectangle 16"/>
          <p:cNvSpPr/>
          <p:nvPr/>
        </p:nvSpPr>
        <p:spPr>
          <a:xfrm>
            <a:off x="5266944" y="4297680"/>
            <a:ext cx="1408176" cy="987552"/>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21807" y="4425696"/>
            <a:ext cx="1298448" cy="384048"/>
          </a:xfrm>
          <a:prstGeom prst="rect">
            <a:avLst/>
          </a:prstGeom>
          <a:noFill/>
        </p:spPr>
        <p:txBody>
          <a:bodyPr wrap="square" lIns="0" rIns="0" tIns="0" bIns="0" anchor="t">
            <a:spAutoFit/>
          </a:bodyPr>
          <a:lstStyle/>
          <a:p>
            <a:pPr algn="ctr"/>
            <a:r>
              <a:rPr sz="2200" b="1" i="0">
                <a:solidFill>
                  <a:srgbClr val="16263F"/>
                </a:solidFill>
                <a:latin typeface="Calibri"/>
              </a:rPr>
              <a:t>0.675</a:t>
            </a:r>
          </a:p>
        </p:txBody>
      </p:sp>
      <p:sp>
        <p:nvSpPr>
          <p:cNvPr id="19" name="TextBox 18"/>
          <p:cNvSpPr txBox="1"/>
          <p:nvPr/>
        </p:nvSpPr>
        <p:spPr>
          <a:xfrm>
            <a:off x="5303520" y="4882896"/>
            <a:ext cx="1335024" cy="274320"/>
          </a:xfrm>
          <a:prstGeom prst="rect">
            <a:avLst/>
          </a:prstGeom>
          <a:noFill/>
        </p:spPr>
        <p:txBody>
          <a:bodyPr wrap="square" lIns="0" rIns="0" tIns="0" bIns="0" anchor="t">
            <a:spAutoFit/>
          </a:bodyPr>
          <a:lstStyle/>
          <a:p>
            <a:pPr algn="ctr"/>
            <a:r>
              <a:rPr sz="1100" b="0" i="0">
                <a:solidFill>
                  <a:srgbClr val="4A556B"/>
                </a:solidFill>
                <a:latin typeface="Calibri"/>
              </a:rPr>
              <a:t>variant D</a:t>
            </a:r>
          </a:p>
        </p:txBody>
      </p:sp>
      <p:sp>
        <p:nvSpPr>
          <p:cNvPr id="20" name="TextBox 19"/>
          <p:cNvSpPr txBox="1"/>
          <p:nvPr/>
        </p:nvSpPr>
        <p:spPr>
          <a:xfrm>
            <a:off x="548640" y="5431536"/>
            <a:ext cx="6126480" cy="310896"/>
          </a:xfrm>
          <a:prstGeom prst="rect">
            <a:avLst/>
          </a:prstGeom>
          <a:noFill/>
        </p:spPr>
        <p:txBody>
          <a:bodyPr wrap="square" lIns="0" rIns="0" tIns="0" bIns="0" anchor="t">
            <a:spAutoFit/>
          </a:bodyPr>
          <a:lstStyle/>
          <a:p>
            <a:pPr algn="l"/>
            <a:r>
              <a:rPr sz="1400" b="1" i="0">
                <a:solidFill>
                  <a:srgbClr val="EB6834"/>
                </a:solidFill>
                <a:latin typeface="Calibri"/>
              </a:rPr>
              <a:t>Wording is worth 20 points - the key insight of this chapter</a:t>
            </a:r>
          </a:p>
        </p:txBody>
      </p:sp>
      <p:sp>
        <p:nvSpPr>
          <p:cNvPr id="21" name="Oval 20"/>
          <p:cNvSpPr/>
          <p:nvPr/>
        </p:nvSpPr>
        <p:spPr>
          <a:xfrm>
            <a:off x="7187183" y="1280160"/>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61504" y="1188720"/>
            <a:ext cx="4181551" cy="1412748"/>
          </a:xfrm>
          <a:prstGeom prst="rect">
            <a:avLst/>
          </a:prstGeom>
          <a:noFill/>
        </p:spPr>
        <p:txBody>
          <a:bodyPr wrap="square" lIns="0" rIns="0" tIns="0" bIns="0" anchor="t">
            <a:spAutoFit/>
          </a:bodyPr>
          <a:lstStyle/>
          <a:p>
            <a:pPr algn="l"/>
            <a:r>
              <a:rPr sz="1800" b="0" i="0">
                <a:solidFill>
                  <a:srgbClr val="16263F"/>
                </a:solidFill>
                <a:latin typeface="Calibri"/>
              </a:rPr>
              <a:t>Structured output + validation: every answer</a:t>
            </a:r>
          </a:p>
          <a:p>
            <a:pPr algn="l"/>
            <a:r>
              <a:rPr sz="1800" b="0" i="0">
                <a:solidFill>
                  <a:srgbClr val="16263F"/>
                </a:solidFill>
                <a:latin typeface="Calibri"/>
              </a:rPr>
              <a:t>is parsed into {"decision", "confidence",</a:t>
            </a:r>
          </a:p>
          <a:p>
            <a:pPr algn="l"/>
            <a:r>
              <a:rPr sz="1800" b="0" i="0">
                <a:solidFill>
                  <a:srgbClr val="16263F"/>
                </a:solidFill>
                <a:latin typeface="Calibri"/>
              </a:rPr>
              <a:t>"scores"} and checked - decision in the</a:t>
            </a:r>
          </a:p>
          <a:p>
            <a:pPr algn="l"/>
            <a:r>
              <a:rPr sz="1800" b="0" i="0">
                <a:solidFill>
                  <a:srgbClr val="16263F"/>
                </a:solidFill>
                <a:latin typeface="Calibri"/>
              </a:rPr>
              <a:t>enum, confidence a float in [0,1], scores</a:t>
            </a:r>
          </a:p>
          <a:p>
            <a:pPr algn="l"/>
            <a:r>
              <a:rPr sz="1800" b="0" i="0">
                <a:solidFill>
                  <a:srgbClr val="16263F"/>
                </a:solidFill>
                <a:latin typeface="Calibri"/>
              </a:rPr>
              <a:t>over exactly the two labels summing to 1.</a:t>
            </a:r>
          </a:p>
        </p:txBody>
      </p:sp>
      <p:sp>
        <p:nvSpPr>
          <p:cNvPr id="23" name="Oval 22"/>
          <p:cNvSpPr/>
          <p:nvPr/>
        </p:nvSpPr>
        <p:spPr>
          <a:xfrm>
            <a:off x="7187183" y="2930651"/>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61504" y="2839212"/>
            <a:ext cx="4181551" cy="1133856"/>
          </a:xfrm>
          <a:prstGeom prst="rect">
            <a:avLst/>
          </a:prstGeom>
          <a:noFill/>
        </p:spPr>
        <p:txBody>
          <a:bodyPr wrap="square" lIns="0" rIns="0" tIns="0" bIns="0" anchor="t">
            <a:spAutoFit/>
          </a:bodyPr>
          <a:lstStyle/>
          <a:p>
            <a:pPr algn="l"/>
            <a:r>
              <a:rPr sz="1800" b="0" i="0">
                <a:solidFill>
                  <a:srgbClr val="16263F"/>
                </a:solidFill>
                <a:latin typeface="Calibri"/>
              </a:rPr>
              <a:t>Abstention band +/-0.05 around the</a:t>
            </a:r>
          </a:p>
          <a:p>
            <a:pPr algn="l"/>
            <a:r>
              <a:rPr sz="1800" b="0" i="0">
                <a:solidFill>
                  <a:srgbClr val="16263F"/>
                </a:solidFill>
                <a:latin typeface="Calibri"/>
              </a:rPr>
              <a:t>threshold returns "uncertain" and falls back</a:t>
            </a:r>
          </a:p>
          <a:p>
            <a:pPr algn="l"/>
            <a:r>
              <a:rPr sz="1800" b="0" i="0">
                <a:solidFill>
                  <a:srgbClr val="16263F"/>
                </a:solidFill>
                <a:latin typeface="Calibri"/>
              </a:rPr>
              <a:t>to support, the safe default. 3 of 60</a:t>
            </a:r>
          </a:p>
          <a:p>
            <a:pPr algn="l"/>
            <a:r>
              <a:rPr sz="1800" b="0" i="0">
                <a:solidFill>
                  <a:srgbClr val="16263F"/>
                </a:solidFill>
                <a:latin typeface="Calibri"/>
              </a:rPr>
              <a:t>abstained, 0 in test.</a:t>
            </a:r>
          </a:p>
        </p:txBody>
      </p:sp>
      <p:sp>
        <p:nvSpPr>
          <p:cNvPr id="25" name="Rounded Rectangle 24"/>
          <p:cNvSpPr/>
          <p:nvPr/>
        </p:nvSpPr>
        <p:spPr>
          <a:xfrm>
            <a:off x="7187183" y="3986784"/>
            <a:ext cx="4455871" cy="1298448"/>
          </a:xfrm>
          <a:prstGeom prst="roundRect">
            <a:avLst/>
          </a:prstGeom>
          <a:solidFill>
            <a:srgbClr val="FD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315199" y="4114800"/>
            <a:ext cx="4199839" cy="625348"/>
          </a:xfrm>
          <a:prstGeom prst="rect">
            <a:avLst/>
          </a:prstGeom>
          <a:noFill/>
        </p:spPr>
        <p:txBody>
          <a:bodyPr wrap="square" lIns="0" rIns="0" tIns="0" bIns="0" anchor="t">
            <a:spAutoFit/>
          </a:bodyPr>
          <a:lstStyle/>
          <a:p>
            <a:pPr algn="ctr"/>
            <a:r>
              <a:rPr sz="3800" b="1" i="0">
                <a:solidFill>
                  <a:srgbClr val="EB6834"/>
                </a:solidFill>
                <a:latin typeface="Calibri"/>
              </a:rPr>
              <a:t>0 of 60</a:t>
            </a:r>
          </a:p>
        </p:txBody>
      </p:sp>
      <p:sp>
        <p:nvSpPr>
          <p:cNvPr id="27" name="TextBox 26"/>
          <p:cNvSpPr txBox="1"/>
          <p:nvPr/>
        </p:nvSpPr>
        <p:spPr>
          <a:xfrm>
            <a:off x="7296912" y="4813300"/>
            <a:ext cx="4236415" cy="222504"/>
          </a:xfrm>
          <a:prstGeom prst="rect">
            <a:avLst/>
          </a:prstGeom>
          <a:noFill/>
        </p:spPr>
        <p:txBody>
          <a:bodyPr wrap="square" lIns="0" rIns="0" tIns="0" bIns="0" anchor="t">
            <a:spAutoFit/>
          </a:bodyPr>
          <a:lstStyle/>
          <a:p>
            <a:pPr algn="ctr"/>
            <a:r>
              <a:rPr sz="1200" b="0" i="0">
                <a:solidFill>
                  <a:srgbClr val="4A556B"/>
                </a:solidFill>
                <a:latin typeface="Calibri"/>
              </a:rPr>
              <a:t>outputs failed schema validation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20624"/>
            <a:ext cx="11094415" cy="566928"/>
          </a:xfrm>
          <a:prstGeom prst="rect">
            <a:avLst/>
          </a:prstGeom>
          <a:noFill/>
        </p:spPr>
        <p:txBody>
          <a:bodyPr wrap="square" lIns="0" rIns="0" tIns="0" bIns="0" anchor="t">
            <a:spAutoFit/>
          </a:bodyPr>
          <a:lstStyle/>
          <a:p>
            <a:pPr algn="l"/>
            <a:r>
              <a:rPr sz="3200" b="1" i="0">
                <a:solidFill>
                  <a:srgbClr val="16263F"/>
                </a:solidFill>
                <a:latin typeface="Calibri"/>
              </a:rPr>
              <a:t>Decision model: results</a:t>
            </a:r>
          </a:p>
        </p:txBody>
      </p:sp>
      <p:sp>
        <p:nvSpPr>
          <p:cNvPr id="3" name="Rounded Rectangle 2"/>
          <p:cNvSpPr/>
          <p:nvPr/>
        </p:nvSpPr>
        <p:spPr>
          <a:xfrm>
            <a:off x="10643057" y="457200"/>
            <a:ext cx="999998" cy="310896"/>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Student 2</a:t>
            </a:r>
          </a:p>
        </p:txBody>
      </p:sp>
      <p:sp>
        <p:nvSpPr>
          <p:cNvPr id="4" name="Rounded Rectangle 3"/>
          <p:cNvSpPr/>
          <p:nvPr/>
        </p:nvSpPr>
        <p:spPr>
          <a:xfrm>
            <a:off x="548640" y="1115568"/>
            <a:ext cx="1874519" cy="1300988"/>
          </a:xfrm>
          <a:prstGeom prst="roundRect">
            <a:avLst/>
          </a:prstGeom>
          <a:solidFill>
            <a:srgbClr val="FD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76656" y="1243584"/>
            <a:ext cx="1618487" cy="563372"/>
          </a:xfrm>
          <a:prstGeom prst="rect">
            <a:avLst/>
          </a:prstGeom>
          <a:noFill/>
        </p:spPr>
        <p:txBody>
          <a:bodyPr wrap="square" lIns="0" rIns="0" tIns="0" bIns="0" anchor="t">
            <a:spAutoFit/>
          </a:bodyPr>
          <a:lstStyle/>
          <a:p>
            <a:pPr algn="ctr"/>
            <a:r>
              <a:rPr sz="3400" b="1" i="0">
                <a:solidFill>
                  <a:srgbClr val="EB6834"/>
                </a:solidFill>
                <a:latin typeface="Calibri"/>
              </a:rPr>
              <a:t>0.95</a:t>
            </a:r>
          </a:p>
        </p:txBody>
      </p:sp>
      <p:sp>
        <p:nvSpPr>
          <p:cNvPr id="6" name="TextBox 5"/>
          <p:cNvSpPr txBox="1"/>
          <p:nvPr/>
        </p:nvSpPr>
        <p:spPr>
          <a:xfrm>
            <a:off x="658368" y="1880108"/>
            <a:ext cx="1655063" cy="408432"/>
          </a:xfrm>
          <a:prstGeom prst="rect">
            <a:avLst/>
          </a:prstGeom>
          <a:noFill/>
        </p:spPr>
        <p:txBody>
          <a:bodyPr wrap="square" lIns="0" rIns="0" tIns="0" bIns="0" anchor="t">
            <a:spAutoFit/>
          </a:bodyPr>
          <a:lstStyle/>
          <a:p>
            <a:pPr algn="ctr"/>
            <a:r>
              <a:rPr sz="1200" b="0" i="0">
                <a:solidFill>
                  <a:srgbClr val="4A556B"/>
                </a:solidFill>
                <a:latin typeface="Calibri"/>
              </a:rPr>
              <a:t>test accuracy (n=20)</a:t>
            </a:r>
          </a:p>
          <a:p>
            <a:pPr algn="ctr"/>
            <a:r>
              <a:rPr sz="1200" b="0" i="0">
                <a:solidFill>
                  <a:srgbClr val="4A556B"/>
                </a:solidFill>
                <a:latin typeface="Calibri"/>
              </a:rPr>
              <a:t>macro F1 0.95</a:t>
            </a:r>
          </a:p>
        </p:txBody>
      </p:sp>
      <p:sp>
        <p:nvSpPr>
          <p:cNvPr id="7" name="Rounded Rectangle 6"/>
          <p:cNvSpPr/>
          <p:nvPr/>
        </p:nvSpPr>
        <p:spPr>
          <a:xfrm>
            <a:off x="2697479" y="1115568"/>
            <a:ext cx="1874519" cy="1300988"/>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825496" y="1243584"/>
            <a:ext cx="1618487" cy="563372"/>
          </a:xfrm>
          <a:prstGeom prst="rect">
            <a:avLst/>
          </a:prstGeom>
          <a:noFill/>
        </p:spPr>
        <p:txBody>
          <a:bodyPr wrap="square" lIns="0" rIns="0" tIns="0" bIns="0" anchor="t">
            <a:spAutoFit/>
          </a:bodyPr>
          <a:lstStyle/>
          <a:p>
            <a:pPr algn="ctr"/>
            <a:r>
              <a:rPr sz="3400" b="1" i="0">
                <a:solidFill>
                  <a:srgbClr val="16263F"/>
                </a:solidFill>
                <a:latin typeface="Calibri"/>
              </a:rPr>
              <a:t>0.85</a:t>
            </a:r>
          </a:p>
        </p:txBody>
      </p:sp>
      <p:sp>
        <p:nvSpPr>
          <p:cNvPr id="9" name="TextBox 8"/>
          <p:cNvSpPr txBox="1"/>
          <p:nvPr/>
        </p:nvSpPr>
        <p:spPr>
          <a:xfrm>
            <a:off x="2807208" y="1880108"/>
            <a:ext cx="1655063" cy="408432"/>
          </a:xfrm>
          <a:prstGeom prst="rect">
            <a:avLst/>
          </a:prstGeom>
          <a:noFill/>
        </p:spPr>
        <p:txBody>
          <a:bodyPr wrap="square" lIns="0" rIns="0" tIns="0" bIns="0" anchor="t">
            <a:spAutoFit/>
          </a:bodyPr>
          <a:lstStyle/>
          <a:p>
            <a:pPr algn="ctr"/>
            <a:r>
              <a:rPr sz="1200" b="0" i="0">
                <a:solidFill>
                  <a:srgbClr val="4A556B"/>
                </a:solidFill>
                <a:latin typeface="Calibri"/>
              </a:rPr>
              <a:t>across all 60 messages</a:t>
            </a:r>
          </a:p>
          <a:p>
            <a:pPr algn="ctr"/>
            <a:r>
              <a:rPr sz="1200" b="0" i="0">
                <a:solidFill>
                  <a:srgbClr val="4A556B"/>
                </a:solidFill>
                <a:latin typeface="Calibri"/>
              </a:rPr>
              <a:t>the test half is easier</a:t>
            </a:r>
          </a:p>
        </p:txBody>
      </p:sp>
      <p:pic>
        <p:nvPicPr>
          <p:cNvPr id="10" name="Picture 9" descr="zeroshot_confusion_matrix.png"/>
          <p:cNvPicPr>
            <a:picLocks noChangeAspect="1"/>
          </p:cNvPicPr>
          <p:nvPr/>
        </p:nvPicPr>
        <p:blipFill>
          <a:blip r:embed="rId2"/>
          <a:stretch>
            <a:fillRect/>
          </a:stretch>
        </p:blipFill>
        <p:spPr>
          <a:xfrm>
            <a:off x="4846319" y="1115568"/>
            <a:ext cx="2560320" cy="2194560"/>
          </a:xfrm>
          <a:prstGeom prst="rect">
            <a:avLst/>
          </a:prstGeom>
        </p:spPr>
      </p:pic>
      <p:sp>
        <p:nvSpPr>
          <p:cNvPr id="11" name="TextBox 10"/>
          <p:cNvSpPr txBox="1"/>
          <p:nvPr/>
        </p:nvSpPr>
        <p:spPr>
          <a:xfrm>
            <a:off x="4846319" y="3364992"/>
            <a:ext cx="2560320" cy="201168"/>
          </a:xfrm>
          <a:prstGeom prst="rect">
            <a:avLst/>
          </a:prstGeom>
          <a:noFill/>
        </p:spPr>
        <p:txBody>
          <a:bodyPr wrap="square" lIns="0" rIns="0" tIns="0" bIns="0" anchor="t">
            <a:spAutoFit/>
          </a:bodyPr>
          <a:lstStyle/>
          <a:p>
            <a:pPr algn="ctr"/>
            <a:r>
              <a:rPr sz="1200" b="0" i="0">
                <a:solidFill>
                  <a:srgbClr val="767F8F"/>
                </a:solidFill>
                <a:latin typeface="Calibri"/>
              </a:rPr>
              <a:t>Never sent a real problem to sales</a:t>
            </a:r>
          </a:p>
        </p:txBody>
      </p:sp>
      <p:pic>
        <p:nvPicPr>
          <p:cNvPr id="12" name="Picture 11" descr="zeroshot_confidence.png"/>
          <p:cNvPicPr>
            <a:picLocks noChangeAspect="1"/>
          </p:cNvPicPr>
          <p:nvPr/>
        </p:nvPicPr>
        <p:blipFill>
          <a:blip r:embed="rId3"/>
          <a:stretch>
            <a:fillRect/>
          </a:stretch>
        </p:blipFill>
        <p:spPr>
          <a:xfrm>
            <a:off x="7680959" y="1115568"/>
            <a:ext cx="3530379" cy="2194560"/>
          </a:xfrm>
          <a:prstGeom prst="rect">
            <a:avLst/>
          </a:prstGeom>
        </p:spPr>
      </p:pic>
      <p:sp>
        <p:nvSpPr>
          <p:cNvPr id="13" name="TextBox 12"/>
          <p:cNvSpPr txBox="1"/>
          <p:nvPr/>
        </p:nvSpPr>
        <p:spPr>
          <a:xfrm>
            <a:off x="548640" y="2816352"/>
            <a:ext cx="4023359" cy="475488"/>
          </a:xfrm>
          <a:prstGeom prst="rect">
            <a:avLst/>
          </a:prstGeom>
          <a:noFill/>
        </p:spPr>
        <p:txBody>
          <a:bodyPr wrap="square" lIns="0" rIns="0" tIns="0" bIns="0" anchor="t">
            <a:spAutoFit/>
          </a:bodyPr>
          <a:lstStyle/>
          <a:p>
            <a:pPr algn="ctr"/>
            <a:r>
              <a:rPr sz="1200" b="0" i="0">
                <a:solidFill>
                  <a:srgbClr val="4A556B"/>
                </a:solidFill>
                <a:latin typeface="Calibri"/>
              </a:rPr>
              <a:t>By category:  plain 8/8    negation 7/8    mixed 4/4</a:t>
            </a:r>
          </a:p>
        </p:txBody>
      </p:sp>
      <p:sp>
        <p:nvSpPr>
          <p:cNvPr id="14" name="TextBox 13"/>
          <p:cNvSpPr txBox="1"/>
          <p:nvPr/>
        </p:nvSpPr>
        <p:spPr>
          <a:xfrm>
            <a:off x="548640" y="3584448"/>
            <a:ext cx="6720840" cy="256032"/>
          </a:xfrm>
          <a:prstGeom prst="rect">
            <a:avLst/>
          </a:prstGeom>
          <a:noFill/>
        </p:spPr>
        <p:txBody>
          <a:bodyPr wrap="square" lIns="0" rIns="0" tIns="0" bIns="0" anchor="t">
            <a:spAutoFit/>
          </a:bodyPr>
          <a:lstStyle/>
          <a:p>
            <a:pPr algn="l"/>
            <a:r>
              <a:rPr sz="1200" b="0" i="0">
                <a:solidFill>
                  <a:srgbClr val="767F8F"/>
                </a:solidFill>
                <a:latin typeface="Calibri"/>
              </a:rPr>
              <a:t>Two real outputs, copied from results/zeroshot_predictions.csv</a:t>
            </a:r>
          </a:p>
        </p:txBody>
      </p:sp>
      <p:sp>
        <p:nvSpPr>
          <p:cNvPr id="15" name="Rounded Rectangle 14"/>
          <p:cNvSpPr/>
          <p:nvPr/>
        </p:nvSpPr>
        <p:spPr>
          <a:xfrm>
            <a:off x="548640" y="3895344"/>
            <a:ext cx="6720840" cy="1810512"/>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4041648"/>
            <a:ext cx="6355079" cy="1517904"/>
          </a:xfrm>
          <a:prstGeom prst="rect">
            <a:avLst/>
          </a:prstGeom>
          <a:noFill/>
        </p:spPr>
        <p:txBody>
          <a:bodyPr wrap="square" lIns="0" rIns="0" tIns="0" bIns="0" anchor="t">
            <a:spAutoFit/>
          </a:bodyPr>
          <a:lstStyle/>
          <a:p>
            <a:pPr algn="l"/>
            <a:r>
              <a:rPr sz="1100" b="0" i="0">
                <a:solidFill>
                  <a:srgbClr val="16263F"/>
                </a:solidFill>
                <a:latin typeface="Courier New"/>
              </a:rPr>
              <a:t>id 33  "I'd like to buy three more licenses for my team."   -&gt; flag 1</a:t>
            </a:r>
          </a:p>
          <a:p>
            <a:pPr algn="l"/>
            <a:r>
              <a:rPr sz="1100" b="0" i="0">
                <a:solidFill>
                  <a:srgbClr val="16263F"/>
                </a:solidFill>
                <a:latin typeface="Courier New"/>
              </a:rPr>
              <a:t>{"decision": "sales", "confidence": 0.906,</a:t>
            </a:r>
          </a:p>
          <a:p>
            <a:pPr algn="l"/>
            <a:r>
              <a:rPr sz="1100" b="0" i="0">
                <a:solidFill>
                  <a:srgbClr val="16263F"/>
                </a:solidFill>
                <a:latin typeface="Courier New"/>
              </a:rPr>
              <a:t> "scores": {"customer_service": 0.094, "sales": 0.906}}</a:t>
            </a:r>
          </a:p>
          <a:p>
            <a:pPr algn="l"/>
            <a:r>
              <a:rPr sz="1100" b="0" i="0">
                <a:solidFill>
                  <a:srgbClr val="16263F"/>
                </a:solidFill>
                <a:latin typeface="Courier New"/>
              </a:rPr>
              <a:t/>
            </a:r>
          </a:p>
          <a:p>
            <a:pPr algn="l"/>
            <a:r>
              <a:rPr sz="1100" b="0" i="0">
                <a:solidFill>
                  <a:srgbClr val="16263F"/>
                </a:solidFill>
                <a:latin typeface="Courier New"/>
              </a:rPr>
              <a:t>id 25  "Before I buy a second license, can you fix the       -&gt; flag 0</a:t>
            </a:r>
          </a:p>
          <a:p>
            <a:pPr algn="l"/>
            <a:r>
              <a:rPr sz="1100" b="0" i="0">
                <a:solidFill>
                  <a:srgbClr val="16263F"/>
                </a:solidFill>
                <a:latin typeface="Courier New"/>
              </a:rPr>
              <a:t>        error the first one keeps showing?"</a:t>
            </a:r>
          </a:p>
          <a:p>
            <a:pPr algn="l"/>
            <a:r>
              <a:rPr sz="1100" b="0" i="0">
                <a:solidFill>
                  <a:srgbClr val="16263F"/>
                </a:solidFill>
                <a:latin typeface="Courier New"/>
              </a:rPr>
              <a:t>{"decision": "customer_service", "confidence": 0.704,</a:t>
            </a:r>
          </a:p>
          <a:p>
            <a:pPr algn="l"/>
            <a:r>
              <a:rPr sz="1100" b="0" i="0">
                <a:solidFill>
                  <a:srgbClr val="16263F"/>
                </a:solidFill>
                <a:latin typeface="Courier New"/>
              </a:rPr>
              <a:t> "scores": {"customer_service": 0.704, "sales": 0.296}}</a:t>
            </a:r>
          </a:p>
        </p:txBody>
      </p:sp>
      <p:sp>
        <p:nvSpPr>
          <p:cNvPr id="17" name="TextBox 16"/>
          <p:cNvSpPr txBox="1"/>
          <p:nvPr/>
        </p:nvSpPr>
        <p:spPr>
          <a:xfrm>
            <a:off x="548640" y="5833872"/>
            <a:ext cx="6720840" cy="274320"/>
          </a:xfrm>
          <a:prstGeom prst="rect">
            <a:avLst/>
          </a:prstGeom>
          <a:noFill/>
        </p:spPr>
        <p:txBody>
          <a:bodyPr wrap="square" lIns="0" rIns="0" tIns="0" bIns="0" anchor="t">
            <a:spAutoFit/>
          </a:bodyPr>
          <a:lstStyle/>
          <a:p>
            <a:pPr algn="l"/>
            <a:r>
              <a:rPr sz="1200" b="0" i="0">
                <a:solidFill>
                  <a:srgbClr val="767F8F"/>
                </a:solidFill>
                <a:latin typeface="Calibri"/>
              </a:rPr>
              <a:t>Cost: 546 ms per message on CPU, ~1.6 GB in memory</a:t>
            </a:r>
          </a:p>
        </p:txBody>
      </p:sp>
      <p:sp>
        <p:nvSpPr>
          <p:cNvPr id="18" name="Oval 17"/>
          <p:cNvSpPr/>
          <p:nvPr/>
        </p:nvSpPr>
        <p:spPr>
          <a:xfrm>
            <a:off x="7726679" y="3955795"/>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3895344"/>
            <a:ext cx="3642055" cy="669036"/>
          </a:xfrm>
          <a:prstGeom prst="rect">
            <a:avLst/>
          </a:prstGeom>
          <a:noFill/>
        </p:spPr>
        <p:txBody>
          <a:bodyPr wrap="square" lIns="0" rIns="0" tIns="0" bIns="0" anchor="t">
            <a:spAutoFit/>
          </a:bodyPr>
          <a:lstStyle/>
          <a:p>
            <a:pPr algn="l"/>
            <a:r>
              <a:rPr sz="1400" b="0" i="0">
                <a:solidFill>
                  <a:srgbClr val="16263F"/>
                </a:solidFill>
                <a:latin typeface="Calibri"/>
              </a:rPr>
              <a:t>id 25 is the win: mixed intent, the words buy and</a:t>
            </a:r>
          </a:p>
          <a:p>
            <a:pPr algn="l"/>
            <a:r>
              <a:rPr sz="1400" b="0" i="0">
                <a:solidFill>
                  <a:srgbClr val="16263F"/>
                </a:solidFill>
                <a:latin typeface="Calibri"/>
              </a:rPr>
              <a:t>second license are right there, and it still routes</a:t>
            </a:r>
          </a:p>
          <a:p>
            <a:pPr algn="l"/>
            <a:r>
              <a:rPr sz="1400" b="0" i="0">
                <a:solidFill>
                  <a:srgbClr val="16263F"/>
                </a:solidFill>
                <a:latin typeface="Calibri"/>
              </a:rPr>
              <a:t>to support.</a:t>
            </a:r>
          </a:p>
        </p:txBody>
      </p:sp>
      <p:sp>
        <p:nvSpPr>
          <p:cNvPr id="20" name="Oval 19"/>
          <p:cNvSpPr/>
          <p:nvPr/>
        </p:nvSpPr>
        <p:spPr>
          <a:xfrm>
            <a:off x="7726679" y="4825999"/>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01000" y="4765547"/>
            <a:ext cx="3642055" cy="885951"/>
          </a:xfrm>
          <a:prstGeom prst="rect">
            <a:avLst/>
          </a:prstGeom>
          <a:noFill/>
        </p:spPr>
        <p:txBody>
          <a:bodyPr wrap="square" lIns="0" rIns="0" tIns="0" bIns="0" anchor="t">
            <a:spAutoFit/>
          </a:bodyPr>
          <a:lstStyle/>
          <a:p>
            <a:pPr algn="l"/>
            <a:r>
              <a:rPr sz="1400" b="0" i="0">
                <a:solidFill>
                  <a:srgbClr val="16263F"/>
                </a:solidFill>
                <a:latin typeface="Calibri"/>
              </a:rPr>
              <a:t>One error - id 43 scored 0.07 for sales: confidently</a:t>
            </a:r>
          </a:p>
          <a:p>
            <a:pPr algn="l"/>
            <a:r>
              <a:rPr sz="1400" b="0" i="0">
                <a:solidFill>
                  <a:srgbClr val="16263F"/>
                </a:solidFill>
                <a:latin typeface="Calibri"/>
              </a:rPr>
              <a:t>wrong, outside the abstention band. Validation</a:t>
            </a:r>
          </a:p>
          <a:p>
            <a:pPr algn="l"/>
            <a:r>
              <a:rPr sz="1400" b="0" i="0">
                <a:solidFill>
                  <a:srgbClr val="16263F"/>
                </a:solidFill>
                <a:latin typeface="Calibri"/>
              </a:rPr>
              <a:t>guarantees the shape of the answer, never its</a:t>
            </a:r>
          </a:p>
          <a:p>
            <a:pPr algn="l"/>
            <a:r>
              <a:rPr sz="1400" b="0" i="0">
                <a:solidFill>
                  <a:srgbClr val="16263F"/>
                </a:solidFill>
                <a:latin typeface="Calibri"/>
              </a:rPr>
              <a:t>truth.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20624"/>
            <a:ext cx="11094415" cy="566928"/>
          </a:xfrm>
          <a:prstGeom prst="rect">
            <a:avLst/>
          </a:prstGeom>
          <a:noFill/>
        </p:spPr>
        <p:txBody>
          <a:bodyPr wrap="square" lIns="0" rIns="0" tIns="0" bIns="0" anchor="t">
            <a:spAutoFit/>
          </a:bodyPr>
          <a:lstStyle/>
          <a:p>
            <a:pPr algn="l"/>
            <a:r>
              <a:rPr sz="3200" b="1" i="0">
                <a:solidFill>
                  <a:srgbClr val="16263F"/>
                </a:solidFill>
                <a:latin typeface="Calibri"/>
              </a:rPr>
              <a:t>The traditional ML classifier</a:t>
            </a:r>
          </a:p>
        </p:txBody>
      </p:sp>
      <p:sp>
        <p:nvSpPr>
          <p:cNvPr id="3" name="Rounded Rectangle 2"/>
          <p:cNvSpPr/>
          <p:nvPr/>
        </p:nvSpPr>
        <p:spPr>
          <a:xfrm>
            <a:off x="10643057" y="457200"/>
            <a:ext cx="999998" cy="310896"/>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Student 3</a:t>
            </a:r>
          </a:p>
        </p:txBody>
      </p:sp>
      <p:sp>
        <p:nvSpPr>
          <p:cNvPr id="4" name="Oval 3"/>
          <p:cNvSpPr/>
          <p:nvPr/>
        </p:nvSpPr>
        <p:spPr>
          <a:xfrm>
            <a:off x="548640" y="1298448"/>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207008"/>
            <a:ext cx="6126480" cy="854964"/>
          </a:xfrm>
          <a:prstGeom prst="rect">
            <a:avLst/>
          </a:prstGeom>
          <a:noFill/>
        </p:spPr>
        <p:txBody>
          <a:bodyPr wrap="square" lIns="0" rIns="0" tIns="0" bIns="0" anchor="t">
            <a:spAutoFit/>
          </a:bodyPr>
          <a:lstStyle/>
          <a:p>
            <a:pPr algn="l"/>
            <a:r>
              <a:rPr sz="1800" b="0" i="0">
                <a:solidFill>
                  <a:srgbClr val="16263F"/>
                </a:solidFill>
                <a:latin typeface="Calibri"/>
              </a:rPr>
              <a:t>Numeric features. Two options were tried: TF-IDF word n-grams,</a:t>
            </a:r>
          </a:p>
          <a:p>
            <a:pPr algn="l"/>
            <a:r>
              <a:rPr sz="1800" b="0" i="0">
                <a:solidFill>
                  <a:srgbClr val="16263F"/>
                </a:solidFill>
                <a:latin typeface="Calibri"/>
              </a:rPr>
              <a:t>and 11 hand-crafted features. Lexicons fixed a priori from the</a:t>
            </a:r>
          </a:p>
          <a:p>
            <a:pPr algn="l"/>
            <a:r>
              <a:rPr sz="1800" b="0" i="0">
                <a:solidFill>
                  <a:srgbClr val="16263F"/>
                </a:solidFill>
                <a:latin typeface="Calibri"/>
              </a:rPr>
              <a:t>routing definition.</a:t>
            </a:r>
          </a:p>
        </p:txBody>
      </p:sp>
      <p:sp>
        <p:nvSpPr>
          <p:cNvPr id="6" name="Oval 5"/>
          <p:cNvSpPr/>
          <p:nvPr/>
        </p:nvSpPr>
        <p:spPr>
          <a:xfrm>
            <a:off x="548640" y="2372868"/>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281428"/>
            <a:ext cx="6126480" cy="1412748"/>
          </a:xfrm>
          <a:prstGeom prst="rect">
            <a:avLst/>
          </a:prstGeom>
          <a:noFill/>
        </p:spPr>
        <p:txBody>
          <a:bodyPr wrap="square" lIns="0" rIns="0" tIns="0" bIns="0" anchor="t">
            <a:spAutoFit/>
          </a:bodyPr>
          <a:lstStyle/>
          <a:p>
            <a:pPr algn="l"/>
            <a:r>
              <a:rPr sz="1800" b="0" i="0">
                <a:solidFill>
                  <a:srgbClr val="16263F"/>
                </a:solidFill>
                <a:latin typeface="Calibri"/>
              </a:rPr>
              <a:t>Model search: linear SVM, degree-2 polynomial-kernel SVM, and</a:t>
            </a:r>
          </a:p>
          <a:p>
            <a:pPr algn="l"/>
            <a:r>
              <a:rPr sz="1800" b="0" i="0">
                <a:solidFill>
                  <a:srgbClr val="16263F"/>
                </a:solidFill>
                <a:latin typeface="Calibri"/>
              </a:rPr>
              <a:t>logistic regression on degree-2 polynomial features - 45</a:t>
            </a:r>
          </a:p>
          <a:p>
            <a:pPr algn="l"/>
            <a:r>
              <a:rPr sz="1800" b="0" i="0">
                <a:solidFill>
                  <a:srgbClr val="16263F"/>
                </a:solidFill>
                <a:latin typeface="Calibri"/>
              </a:rPr>
              <a:t>configurations, selected by 5-fold grouped cross-validation on the</a:t>
            </a:r>
          </a:p>
          <a:p>
            <a:pPr algn="l"/>
            <a:r>
              <a:rPr sz="1800" b="0" i="0">
                <a:solidFill>
                  <a:srgbClr val="16263F"/>
                </a:solidFill>
                <a:latin typeface="Calibri"/>
              </a:rPr>
              <a:t>40 training messages only (paraphrase pairs kept in the same</a:t>
            </a:r>
          </a:p>
          <a:p>
            <a:pPr algn="l"/>
            <a:r>
              <a:rPr sz="1800" b="0" i="0">
                <a:solidFill>
                  <a:srgbClr val="16263F"/>
                </a:solidFill>
                <a:latin typeface="Calibri"/>
              </a:rPr>
              <a:t>fold).</a:t>
            </a:r>
          </a:p>
        </p:txBody>
      </p:sp>
      <p:sp>
        <p:nvSpPr>
          <p:cNvPr id="8" name="Oval 7"/>
          <p:cNvSpPr/>
          <p:nvPr/>
        </p:nvSpPr>
        <p:spPr>
          <a:xfrm>
            <a:off x="548640" y="4005072"/>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3913632"/>
            <a:ext cx="6126480" cy="1133856"/>
          </a:xfrm>
          <a:prstGeom prst="rect">
            <a:avLst/>
          </a:prstGeom>
          <a:noFill/>
        </p:spPr>
        <p:txBody>
          <a:bodyPr wrap="square" lIns="0" rIns="0" tIns="0" bIns="0" anchor="t">
            <a:spAutoFit/>
          </a:bodyPr>
          <a:lstStyle/>
          <a:p>
            <a:pPr algn="l"/>
            <a:r>
              <a:rPr sz="1800" b="0" i="0">
                <a:solidFill>
                  <a:srgbClr val="16263F"/>
                </a:solidFill>
                <a:latin typeface="Calibri"/>
              </a:rPr>
              <a:t>Selected: 11 hand-crafted features + SVM, degree-2 polynomial</a:t>
            </a:r>
          </a:p>
          <a:p>
            <a:pPr algn="l"/>
            <a:r>
              <a:rPr sz="1800" b="0" i="0">
                <a:solidFill>
                  <a:srgbClr val="16263F"/>
                </a:solidFill>
                <a:latin typeface="Calibri"/>
              </a:rPr>
              <a:t>kernel, C = 1. CV accuracy 0.825. TF-IDF came last (0.725) - with</a:t>
            </a:r>
          </a:p>
          <a:p>
            <a:pPr algn="l"/>
            <a:r>
              <a:rPr sz="1800" b="0" i="0">
                <a:solidFill>
                  <a:srgbClr val="16263F"/>
                </a:solidFill>
                <a:latin typeface="Calibri"/>
              </a:rPr>
              <a:t>40 messages there is almost no vocabulary overlap with unseen</a:t>
            </a:r>
          </a:p>
          <a:p>
            <a:pPr algn="l"/>
            <a:r>
              <a:rPr sz="1800" b="0" i="0">
                <a:solidFill>
                  <a:srgbClr val="16263F"/>
                </a:solidFill>
                <a:latin typeface="Calibri"/>
              </a:rPr>
              <a:t>text.</a:t>
            </a:r>
          </a:p>
        </p:txBody>
      </p:sp>
      <p:sp>
        <p:nvSpPr>
          <p:cNvPr id="10" name="Rounded Rectangle 9"/>
          <p:cNvSpPr/>
          <p:nvPr/>
        </p:nvSpPr>
        <p:spPr>
          <a:xfrm>
            <a:off x="7406640" y="1207008"/>
            <a:ext cx="4236415" cy="3346704"/>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26096" y="1408176"/>
            <a:ext cx="3797503" cy="274320"/>
          </a:xfrm>
          <a:prstGeom prst="rect">
            <a:avLst/>
          </a:prstGeom>
          <a:noFill/>
        </p:spPr>
        <p:txBody>
          <a:bodyPr wrap="square" lIns="0" rIns="0" tIns="0" bIns="0" anchor="t">
            <a:spAutoFit/>
          </a:bodyPr>
          <a:lstStyle/>
          <a:p>
            <a:pPr algn="l"/>
            <a:r>
              <a:rPr sz="1400" b="1" i="0">
                <a:solidFill>
                  <a:srgbClr val="2A78D6"/>
                </a:solidFill>
                <a:latin typeface="Calibri"/>
              </a:rPr>
              <a:t>The 11 hand-crafted features</a:t>
            </a:r>
          </a:p>
        </p:txBody>
      </p:sp>
      <p:sp>
        <p:nvSpPr>
          <p:cNvPr id="12" name="TextBox 11"/>
          <p:cNvSpPr txBox="1"/>
          <p:nvPr/>
        </p:nvSpPr>
        <p:spPr>
          <a:xfrm>
            <a:off x="7626096" y="1792224"/>
            <a:ext cx="3797503" cy="2670048"/>
          </a:xfrm>
          <a:prstGeom prst="rect">
            <a:avLst/>
          </a:prstGeom>
          <a:noFill/>
        </p:spPr>
        <p:txBody>
          <a:bodyPr wrap="square" lIns="0" rIns="0" tIns="0" bIns="0" anchor="t">
            <a:spAutoFit/>
          </a:bodyPr>
          <a:lstStyle/>
          <a:p>
            <a:pPr algn="l">
              <a:spcAft>
                <a:spcPts val="300"/>
              </a:spcAft>
            </a:pPr>
            <a:r>
              <a:rPr sz="1200" b="0" i="0">
                <a:solidFill>
                  <a:srgbClr val="16263F"/>
                </a:solidFill>
                <a:latin typeface="Calibri"/>
              </a:rPr>
              <a:t>length in words</a:t>
            </a:r>
          </a:p>
          <a:p>
            <a:pPr algn="l">
              <a:spcAft>
                <a:spcPts val="300"/>
              </a:spcAft>
            </a:pPr>
            <a:r>
              <a:rPr sz="1200" b="0" i="0">
                <a:solidFill>
                  <a:srgbClr val="16263F"/>
                </a:solidFill>
                <a:latin typeface="Calibri"/>
              </a:rPr>
              <a:t>length in characters</a:t>
            </a:r>
          </a:p>
          <a:p>
            <a:pPr algn="l">
              <a:spcAft>
                <a:spcPts val="300"/>
              </a:spcAft>
            </a:pPr>
            <a:r>
              <a:rPr sz="1200" b="0" i="0">
                <a:solidFill>
                  <a:srgbClr val="16263F"/>
                </a:solidFill>
                <a:latin typeface="Calibri"/>
              </a:rPr>
              <a:t>'?' present</a:t>
            </a:r>
          </a:p>
          <a:p>
            <a:pPr algn="l">
              <a:spcAft>
                <a:spcPts val="300"/>
              </a:spcAft>
            </a:pPr>
            <a:r>
              <a:rPr sz="1200" b="0" i="0">
                <a:solidFill>
                  <a:srgbClr val="16263F"/>
                </a:solidFill>
                <a:latin typeface="Calibri"/>
              </a:rPr>
              <a:t>support-lexicon hits</a:t>
            </a:r>
          </a:p>
          <a:p>
            <a:pPr algn="l">
              <a:spcAft>
                <a:spcPts val="300"/>
              </a:spcAft>
            </a:pPr>
            <a:r>
              <a:rPr sz="1200" b="0" i="0">
                <a:solidFill>
                  <a:srgbClr val="16263F"/>
                </a:solidFill>
                <a:latin typeface="Calibri"/>
              </a:rPr>
              <a:t>sales-lexicon hits</a:t>
            </a:r>
          </a:p>
          <a:p>
            <a:pPr algn="l">
              <a:spcAft>
                <a:spcPts val="300"/>
              </a:spcAft>
            </a:pPr>
            <a:r>
              <a:rPr sz="1200" b="0" i="0">
                <a:solidFill>
                  <a:srgbClr val="16263F"/>
                </a:solidFill>
                <a:latin typeface="Calibri"/>
              </a:rPr>
              <a:t>their margin</a:t>
            </a:r>
          </a:p>
          <a:p>
            <a:pPr algn="l">
              <a:spcAft>
                <a:spcPts val="300"/>
              </a:spcAft>
            </a:pPr>
            <a:r>
              <a:rPr sz="1200" b="0" i="0">
                <a:solidFill>
                  <a:srgbClr val="16263F"/>
                </a:solidFill>
                <a:latin typeface="Calibri"/>
              </a:rPr>
              <a:t>negation hits</a:t>
            </a:r>
          </a:p>
          <a:p>
            <a:pPr algn="l">
              <a:spcAft>
                <a:spcPts val="300"/>
              </a:spcAft>
            </a:pPr>
            <a:r>
              <a:rPr sz="1200" b="0" i="0">
                <a:solidFill>
                  <a:srgbClr val="16263F"/>
                </a:solidFill>
                <a:latin typeface="Calibri"/>
              </a:rPr>
              <a:t>existing-service hits</a:t>
            </a:r>
          </a:p>
          <a:p>
            <a:pPr algn="l">
              <a:spcAft>
                <a:spcPts val="300"/>
              </a:spcAft>
            </a:pPr>
            <a:r>
              <a:rPr sz="1200" b="0" i="0">
                <a:solidFill>
                  <a:srgbClr val="16263F"/>
                </a:solidFill>
                <a:latin typeface="Calibri"/>
              </a:rPr>
              <a:t>new-purchase hits</a:t>
            </a:r>
          </a:p>
          <a:p>
            <a:pPr algn="l">
              <a:spcAft>
                <a:spcPts val="300"/>
              </a:spcAft>
            </a:pPr>
            <a:r>
              <a:rPr sz="1200" b="0" i="0">
                <a:solidFill>
                  <a:srgbClr val="16263F"/>
                </a:solidFill>
                <a:latin typeface="Calibri"/>
              </a:rPr>
              <a:t>money words</a:t>
            </a:r>
          </a:p>
          <a:p>
            <a:pPr algn="l">
              <a:spcAft>
                <a:spcPts val="300"/>
              </a:spcAft>
            </a:pPr>
            <a:r>
              <a:rPr sz="1200" b="0" i="0">
                <a:solidFill>
                  <a:srgbClr val="16263F"/>
                </a:solidFill>
                <a:latin typeface="Calibri"/>
              </a:rPr>
              <a:t>first-person request</a:t>
            </a:r>
          </a:p>
        </p:txBody>
      </p:sp>
      <p:sp>
        <p:nvSpPr>
          <p:cNvPr id="13" name="Rounded Rectangle 12"/>
          <p:cNvSpPr/>
          <p:nvPr/>
        </p:nvSpPr>
        <p:spPr>
          <a:xfrm>
            <a:off x="7406640" y="4681728"/>
            <a:ext cx="4236415" cy="1393951"/>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34656" y="4809744"/>
            <a:ext cx="3980383" cy="656336"/>
          </a:xfrm>
          <a:prstGeom prst="rect">
            <a:avLst/>
          </a:prstGeom>
          <a:noFill/>
        </p:spPr>
        <p:txBody>
          <a:bodyPr wrap="square" lIns="0" rIns="0" tIns="0" bIns="0" anchor="t">
            <a:spAutoFit/>
          </a:bodyPr>
          <a:lstStyle/>
          <a:p>
            <a:pPr algn="ctr"/>
            <a:r>
              <a:rPr sz="4000" b="1" i="0">
                <a:solidFill>
                  <a:srgbClr val="2A78D6"/>
                </a:solidFill>
                <a:latin typeface="Calibri"/>
              </a:rPr>
              <a:t>45</a:t>
            </a:r>
          </a:p>
        </p:txBody>
      </p:sp>
      <p:sp>
        <p:nvSpPr>
          <p:cNvPr id="15" name="TextBox 14"/>
          <p:cNvSpPr txBox="1"/>
          <p:nvPr/>
        </p:nvSpPr>
        <p:spPr>
          <a:xfrm>
            <a:off x="7516367" y="5539232"/>
            <a:ext cx="4016959" cy="408432"/>
          </a:xfrm>
          <a:prstGeom prst="rect">
            <a:avLst/>
          </a:prstGeom>
          <a:noFill/>
        </p:spPr>
        <p:txBody>
          <a:bodyPr wrap="square" lIns="0" rIns="0" tIns="0" bIns="0" anchor="t">
            <a:spAutoFit/>
          </a:bodyPr>
          <a:lstStyle/>
          <a:p>
            <a:pPr algn="ctr"/>
            <a:r>
              <a:rPr sz="1200" b="0" i="0">
                <a:solidFill>
                  <a:srgbClr val="4A556B"/>
                </a:solidFill>
                <a:latin typeface="Calibri"/>
              </a:rPr>
              <a:t>configurations cross-validated</a:t>
            </a:r>
          </a:p>
          <a:p>
            <a:pPr algn="ctr"/>
            <a:r>
              <a:rPr sz="1200" b="0" i="0">
                <a:solidFill>
                  <a:srgbClr val="4A556B"/>
                </a:solidFill>
                <a:latin typeface="Calibri"/>
              </a:rPr>
              <a:t>best CV accuracy 0.825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20624"/>
            <a:ext cx="11094415" cy="566928"/>
          </a:xfrm>
          <a:prstGeom prst="rect">
            <a:avLst/>
          </a:prstGeom>
          <a:noFill/>
        </p:spPr>
        <p:txBody>
          <a:bodyPr wrap="square" lIns="0" rIns="0" tIns="0" bIns="0" anchor="t">
            <a:spAutoFit/>
          </a:bodyPr>
          <a:lstStyle/>
          <a:p>
            <a:pPr algn="l"/>
            <a:r>
              <a:rPr sz="3200" b="1" i="0">
                <a:solidFill>
                  <a:srgbClr val="16263F"/>
                </a:solidFill>
                <a:latin typeface="Calibri"/>
              </a:rPr>
              <a:t>Its boundary, its outputs, its errors</a:t>
            </a:r>
          </a:p>
        </p:txBody>
      </p:sp>
      <p:sp>
        <p:nvSpPr>
          <p:cNvPr id="3" name="Rounded Rectangle 2"/>
          <p:cNvSpPr/>
          <p:nvPr/>
        </p:nvSpPr>
        <p:spPr>
          <a:xfrm>
            <a:off x="10643057" y="457200"/>
            <a:ext cx="999998" cy="310896"/>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Student 3</a:t>
            </a:r>
          </a:p>
        </p:txBody>
      </p:sp>
      <p:pic>
        <p:nvPicPr>
          <p:cNvPr id="4" name="Picture 3" descr="ml_decision_boundary_lexicon.png"/>
          <p:cNvPicPr>
            <a:picLocks noChangeAspect="1"/>
          </p:cNvPicPr>
          <p:nvPr/>
        </p:nvPicPr>
        <p:blipFill>
          <a:blip r:embed="rId2"/>
          <a:stretch>
            <a:fillRect/>
          </a:stretch>
        </p:blipFill>
        <p:spPr>
          <a:xfrm>
            <a:off x="548640" y="1115568"/>
            <a:ext cx="3910479" cy="2907792"/>
          </a:xfrm>
          <a:prstGeom prst="rect">
            <a:avLst/>
          </a:prstGeom>
        </p:spPr>
      </p:pic>
      <p:sp>
        <p:nvSpPr>
          <p:cNvPr id="5" name="TextBox 4"/>
          <p:cNvSpPr txBox="1"/>
          <p:nvPr/>
        </p:nvSpPr>
        <p:spPr>
          <a:xfrm>
            <a:off x="548640" y="4078224"/>
            <a:ext cx="3910479" cy="201168"/>
          </a:xfrm>
          <a:prstGeom prst="rect">
            <a:avLst/>
          </a:prstGeom>
          <a:noFill/>
        </p:spPr>
        <p:txBody>
          <a:bodyPr wrap="square" lIns="0" rIns="0" tIns="0" bIns="0" anchor="t">
            <a:spAutoFit/>
          </a:bodyPr>
          <a:lstStyle/>
          <a:p>
            <a:pPr algn="ctr"/>
            <a:r>
              <a:rPr sz="1200" b="0" i="0">
                <a:solidFill>
                  <a:srgbClr val="767F8F"/>
                </a:solidFill>
                <a:latin typeface="Calibri"/>
              </a:rPr>
              <a:t>Boundary on two readable axes: support vs sales lexicon hits</a:t>
            </a:r>
          </a:p>
        </p:txBody>
      </p:sp>
      <p:pic>
        <p:nvPicPr>
          <p:cNvPr id="6" name="Picture 5" descr="ml_test_scores.png"/>
          <p:cNvPicPr>
            <a:picLocks noChangeAspect="1"/>
          </p:cNvPicPr>
          <p:nvPr/>
        </p:nvPicPr>
        <p:blipFill>
          <a:blip r:embed="rId3"/>
          <a:stretch>
            <a:fillRect/>
          </a:stretch>
        </p:blipFill>
        <p:spPr>
          <a:xfrm>
            <a:off x="4962540" y="1115568"/>
            <a:ext cx="3877056" cy="2907792"/>
          </a:xfrm>
          <a:prstGeom prst="rect">
            <a:avLst/>
          </a:prstGeom>
        </p:spPr>
      </p:pic>
      <p:sp>
        <p:nvSpPr>
          <p:cNvPr id="7" name="TextBox 6"/>
          <p:cNvSpPr txBox="1"/>
          <p:nvPr/>
        </p:nvSpPr>
        <p:spPr>
          <a:xfrm>
            <a:off x="4962540" y="4078224"/>
            <a:ext cx="3877056" cy="201168"/>
          </a:xfrm>
          <a:prstGeom prst="rect">
            <a:avLst/>
          </a:prstGeom>
          <a:noFill/>
        </p:spPr>
        <p:txBody>
          <a:bodyPr wrap="square" lIns="0" rIns="0" tIns="0" bIns="0" anchor="t">
            <a:spAutoFit/>
          </a:bodyPr>
          <a:lstStyle/>
          <a:p>
            <a:pPr algn="ctr"/>
            <a:r>
              <a:rPr sz="1200" b="0" i="0">
                <a:solidFill>
                  <a:srgbClr val="767F8F"/>
                </a:solidFill>
                <a:latin typeface="Calibri"/>
              </a:rPr>
              <a:t>Signed decision score of all 20 test messages</a:t>
            </a:r>
          </a:p>
        </p:txBody>
      </p:sp>
      <p:sp>
        <p:nvSpPr>
          <p:cNvPr id="8" name="Oval 7"/>
          <p:cNvSpPr/>
          <p:nvPr/>
        </p:nvSpPr>
        <p:spPr>
          <a:xfrm>
            <a:off x="548640" y="4650739"/>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4590288"/>
            <a:ext cx="4998567" cy="669036"/>
          </a:xfrm>
          <a:prstGeom prst="rect">
            <a:avLst/>
          </a:prstGeom>
          <a:noFill/>
        </p:spPr>
        <p:txBody>
          <a:bodyPr wrap="square" lIns="0" rIns="0" tIns="0" bIns="0" anchor="t">
            <a:spAutoFit/>
          </a:bodyPr>
          <a:lstStyle/>
          <a:p>
            <a:pPr algn="l"/>
            <a:r>
              <a:rPr sz="1400" b="0" i="0">
                <a:solidFill>
                  <a:srgbClr val="16263F"/>
                </a:solidFill>
                <a:latin typeface="Calibri"/>
              </a:rPr>
              <a:t>Train accuracy 0.975 -&gt; test accuracy 0.600. That gap is overfitting: a</a:t>
            </a:r>
          </a:p>
          <a:p>
            <a:pPr algn="l"/>
            <a:r>
              <a:rPr sz="1400" b="0" i="0">
                <a:solidFill>
                  <a:srgbClr val="16263F"/>
                </a:solidFill>
                <a:latin typeface="Calibri"/>
              </a:rPr>
              <a:t>degree-2 kernel separates 40 points easily, and CV on 40 points is</a:t>
            </a:r>
          </a:p>
          <a:p>
            <a:pPr algn="l"/>
            <a:r>
              <a:rPr sz="1400" b="0" i="0">
                <a:solidFill>
                  <a:srgbClr val="16263F"/>
                </a:solidFill>
                <a:latin typeface="Calibri"/>
              </a:rPr>
              <a:t>too noisy to catch it.</a:t>
            </a:r>
          </a:p>
        </p:txBody>
      </p:sp>
      <p:sp>
        <p:nvSpPr>
          <p:cNvPr id="10" name="Oval 9"/>
          <p:cNvSpPr/>
          <p:nvPr/>
        </p:nvSpPr>
        <p:spPr>
          <a:xfrm>
            <a:off x="548640" y="5466079"/>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5405628"/>
            <a:ext cx="4998567" cy="452119"/>
          </a:xfrm>
          <a:prstGeom prst="rect">
            <a:avLst/>
          </a:prstGeom>
          <a:noFill/>
        </p:spPr>
        <p:txBody>
          <a:bodyPr wrap="square" lIns="0" rIns="0" tIns="0" bIns="0" anchor="t">
            <a:spAutoFit/>
          </a:bodyPr>
          <a:lstStyle/>
          <a:p>
            <a:pPr algn="l"/>
            <a:r>
              <a:rPr sz="1400" b="0" i="0">
                <a:solidFill>
                  <a:srgbClr val="16263F"/>
                </a:solidFill>
                <a:latin typeface="Calibri"/>
              </a:rPr>
              <a:t>ids 12 (score 0.02) and 17 (0.19) are support messages pushed over</a:t>
            </a:r>
          </a:p>
          <a:p>
            <a:pPr algn="l"/>
            <a:r>
              <a:rPr sz="1400" b="0" i="0">
                <a:solidFill>
                  <a:srgbClr val="16263F"/>
                </a:solidFill>
                <a:latin typeface="Calibri"/>
              </a:rPr>
              <a:t>the line by a hair.</a:t>
            </a:r>
          </a:p>
        </p:txBody>
      </p:sp>
      <p:sp>
        <p:nvSpPr>
          <p:cNvPr id="12" name="Oval 11"/>
          <p:cNvSpPr/>
          <p:nvPr/>
        </p:nvSpPr>
        <p:spPr>
          <a:xfrm>
            <a:off x="6370167" y="4650739"/>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44487" y="4590288"/>
            <a:ext cx="4998567" cy="452119"/>
          </a:xfrm>
          <a:prstGeom prst="rect">
            <a:avLst/>
          </a:prstGeom>
          <a:noFill/>
        </p:spPr>
        <p:txBody>
          <a:bodyPr wrap="square" lIns="0" rIns="0" tIns="0" bIns="0" anchor="t">
            <a:spAutoFit/>
          </a:bodyPr>
          <a:lstStyle/>
          <a:p>
            <a:pPr algn="l"/>
            <a:r>
              <a:rPr sz="1400" b="0" i="0">
                <a:solidFill>
                  <a:srgbClr val="16263F"/>
                </a:solidFill>
                <a:latin typeface="Calibri"/>
              </a:rPr>
              <a:t>Permutation importance: the strongest single feature is the question</a:t>
            </a:r>
          </a:p>
          <a:p>
            <a:pPr algn="l"/>
            <a:r>
              <a:rPr sz="1400" b="0" i="0">
                <a:solidFill>
                  <a:srgbClr val="16263F"/>
                </a:solidFill>
                <a:latin typeface="Calibri"/>
              </a:rPr>
              <a:t>mark (0.080 accuracy drop); negation is almost unused (0.007).</a:t>
            </a:r>
          </a:p>
        </p:txBody>
      </p:sp>
      <p:sp>
        <p:nvSpPr>
          <p:cNvPr id="14" name="Oval 13"/>
          <p:cNvSpPr/>
          <p:nvPr/>
        </p:nvSpPr>
        <p:spPr>
          <a:xfrm>
            <a:off x="6370167" y="5249163"/>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44487" y="5188712"/>
            <a:ext cx="4998567" cy="452119"/>
          </a:xfrm>
          <a:prstGeom prst="rect">
            <a:avLst/>
          </a:prstGeom>
          <a:noFill/>
        </p:spPr>
        <p:txBody>
          <a:bodyPr wrap="square" lIns="0" rIns="0" tIns="0" bIns="0" anchor="t">
            <a:spAutoFit/>
          </a:bodyPr>
          <a:lstStyle/>
          <a:p>
            <a:pPr algn="l"/>
            <a:r>
              <a:rPr sz="1400" b="0" i="0">
                <a:solidFill>
                  <a:srgbClr val="16263F"/>
                </a:solidFill>
                <a:latin typeface="Calibri"/>
              </a:rPr>
              <a:t>Latency 0.06 ms/message - about 9 000x faster than the decision</a:t>
            </a:r>
          </a:p>
          <a:p>
            <a:pPr algn="l"/>
            <a:r>
              <a:rPr sz="1400" b="0" i="0">
                <a:solidFill>
                  <a:srgbClr val="16263F"/>
                </a:solidFill>
                <a:latin typeface="Calibri"/>
              </a:rPr>
              <a:t>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20624"/>
            <a:ext cx="11094415" cy="566928"/>
          </a:xfrm>
          <a:prstGeom prst="rect">
            <a:avLst/>
          </a:prstGeom>
          <a:noFill/>
        </p:spPr>
        <p:txBody>
          <a:bodyPr wrap="square" lIns="0" rIns="0" tIns="0" bIns="0" anchor="t">
            <a:spAutoFit/>
          </a:bodyPr>
          <a:lstStyle/>
          <a:p>
            <a:pPr algn="l"/>
            <a:r>
              <a:rPr sz="3200" b="1" i="0">
                <a:solidFill>
                  <a:srgbClr val="16263F"/>
                </a:solidFill>
                <a:latin typeface="Calibri"/>
              </a:rPr>
              <a:t>Head to head</a:t>
            </a:r>
          </a:p>
        </p:txBody>
      </p:sp>
      <p:sp>
        <p:nvSpPr>
          <p:cNvPr id="3" name="Rounded Rectangle 2"/>
          <p:cNvSpPr/>
          <p:nvPr/>
        </p:nvSpPr>
        <p:spPr>
          <a:xfrm>
            <a:off x="10643057" y="457200"/>
            <a:ext cx="999998" cy="310896"/>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Student 3</a:t>
            </a:r>
          </a:p>
        </p:txBody>
      </p:sp>
      <p:graphicFrame>
        <p:nvGraphicFramePr>
          <p:cNvPr id="4" name="Table 3"/>
          <p:cNvGraphicFramePr>
            <a:graphicFrameLocks noGrp="1"/>
          </p:cNvGraphicFramePr>
          <p:nvPr/>
        </p:nvGraphicFramePr>
        <p:xfrm>
          <a:off x="548640" y="1115568"/>
          <a:ext cx="6035039" cy="2889504"/>
        </p:xfrm>
        <a:graphic>
          <a:graphicData uri="http://schemas.openxmlformats.org/drawingml/2006/table">
            <a:tbl>
              <a:tblPr firstRow="1" bandRow="1">
                <a:tableStyleId>{5C22544A-7EE6-4342-B048-85BDC9FD1C3A}</a:tableStyleId>
              </a:tblPr>
              <a:tblGrid>
                <a:gridCol w="2331720"/>
                <a:gridCol w="1828800"/>
                <a:gridCol w="1874519"/>
              </a:tblGrid>
              <a:tr h="361188">
                <a:tc>
                  <a:txBody>
                    <a:bodyPr/>
                    <a:lstStyle/>
                    <a:p>
                      <a:pPr algn="l"/>
                      <a:r>
                        <a:rPr sz="1400" b="1" i="0">
                          <a:solidFill>
                            <a:srgbClr val="FFFFFF"/>
                          </a:solidFill>
                          <a:latin typeface="Calibri"/>
                        </a:rPr>
                        <a:t>Metric (test, n=20)</a:t>
                      </a:r>
                    </a:p>
                  </a:txBody>
                  <a:tcPr marL="82296" marR="82296" marT="18288" marB="18288" anchor="ctr">
                    <a:solidFill>
                      <a:srgbClr val="16263F"/>
                    </a:solidFill>
                  </a:tcPr>
                </a:tc>
                <a:tc>
                  <a:txBody>
                    <a:bodyPr/>
                    <a:lstStyle/>
                    <a:p>
                      <a:pPr algn="ctr"/>
                      <a:r>
                        <a:rPr sz="1400" b="1" i="0">
                          <a:solidFill>
                            <a:srgbClr val="FFFFFF"/>
                          </a:solidFill>
                          <a:latin typeface="Calibri"/>
                        </a:rPr>
                        <a:t>Traditional ML</a:t>
                      </a:r>
                    </a:p>
                  </a:txBody>
                  <a:tcPr marL="82296" marR="82296" marT="18288" marB="18288" anchor="ctr">
                    <a:solidFill>
                      <a:srgbClr val="16263F"/>
                    </a:solidFill>
                  </a:tcPr>
                </a:tc>
                <a:tc>
                  <a:txBody>
                    <a:bodyPr/>
                    <a:lstStyle/>
                    <a:p>
                      <a:pPr algn="ctr"/>
                      <a:r>
                        <a:rPr sz="1400" b="1" i="0">
                          <a:solidFill>
                            <a:srgbClr val="FFFFFF"/>
                          </a:solidFill>
                          <a:latin typeface="Calibri"/>
                        </a:rPr>
                        <a:t>Decision model</a:t>
                      </a:r>
                    </a:p>
                  </a:txBody>
                  <a:tcPr marL="82296" marR="82296" marT="18288" marB="18288" anchor="ctr">
                    <a:solidFill>
                      <a:srgbClr val="16263F"/>
                    </a:solidFill>
                  </a:tcPr>
                </a:tc>
              </a:tr>
              <a:tr h="361188">
                <a:tc>
                  <a:txBody>
                    <a:bodyPr/>
                    <a:lstStyle/>
                    <a:p>
                      <a:pPr algn="l"/>
                      <a:r>
                        <a:rPr sz="1400" b="0" i="0">
                          <a:solidFill>
                            <a:srgbClr val="16263F"/>
                          </a:solidFill>
                          <a:latin typeface="Calibri"/>
                        </a:rPr>
                        <a:t>Accuracy</a:t>
                      </a:r>
                    </a:p>
                  </a:txBody>
                  <a:tcPr marL="82296" marR="82296" marT="18288" marB="18288" anchor="ctr">
                    <a:solidFill>
                      <a:srgbClr val="FFFFFF"/>
                    </a:solidFill>
                  </a:tcPr>
                </a:tc>
                <a:tc>
                  <a:txBody>
                    <a:bodyPr/>
                    <a:lstStyle/>
                    <a:p>
                      <a:pPr algn="ctr"/>
                      <a:r>
                        <a:rPr sz="1400" b="1" i="0">
                          <a:solidFill>
                            <a:srgbClr val="2A78D6"/>
                          </a:solidFill>
                          <a:latin typeface="Calibri"/>
                        </a:rPr>
                        <a:t>0.600</a:t>
                      </a:r>
                    </a:p>
                  </a:txBody>
                  <a:tcPr marL="82296" marR="82296" marT="18288" marB="18288" anchor="ctr">
                    <a:solidFill>
                      <a:srgbClr val="FFFFFF"/>
                    </a:solidFill>
                  </a:tcPr>
                </a:tc>
                <a:tc>
                  <a:txBody>
                    <a:bodyPr/>
                    <a:lstStyle/>
                    <a:p>
                      <a:pPr algn="ctr"/>
                      <a:r>
                        <a:rPr sz="1400" b="1" i="0">
                          <a:solidFill>
                            <a:srgbClr val="EB6834"/>
                          </a:solidFill>
                          <a:latin typeface="Calibri"/>
                        </a:rPr>
                        <a:t>0.950</a:t>
                      </a:r>
                    </a:p>
                  </a:txBody>
                  <a:tcPr marL="82296" marR="82296" marT="18288" marB="18288" anchor="ctr">
                    <a:solidFill>
                      <a:srgbClr val="FFFFFF"/>
                    </a:solidFill>
                  </a:tcPr>
                </a:tc>
              </a:tr>
              <a:tr h="361188">
                <a:tc>
                  <a:txBody>
                    <a:bodyPr/>
                    <a:lstStyle/>
                    <a:p>
                      <a:pPr algn="l"/>
                      <a:r>
                        <a:rPr sz="1400" b="0" i="0">
                          <a:solidFill>
                            <a:srgbClr val="16263F"/>
                          </a:solidFill>
                          <a:latin typeface="Calibri"/>
                        </a:rPr>
                        <a:t>Macro F1</a:t>
                      </a:r>
                    </a:p>
                  </a:txBody>
                  <a:tcPr marL="82296" marR="82296" marT="18288" marB="18288" anchor="ctr">
                    <a:solidFill>
                      <a:srgbClr val="EEF3FA"/>
                    </a:solidFill>
                  </a:tcPr>
                </a:tc>
                <a:tc>
                  <a:txBody>
                    <a:bodyPr/>
                    <a:lstStyle/>
                    <a:p>
                      <a:pPr algn="ctr"/>
                      <a:r>
                        <a:rPr sz="1400" b="0" i="0">
                          <a:solidFill>
                            <a:srgbClr val="2A78D6"/>
                          </a:solidFill>
                          <a:latin typeface="Calibri"/>
                        </a:rPr>
                        <a:t>0.583</a:t>
                      </a:r>
                    </a:p>
                  </a:txBody>
                  <a:tcPr marL="82296" marR="82296" marT="18288" marB="18288" anchor="ctr">
                    <a:solidFill>
                      <a:srgbClr val="EEF3FA"/>
                    </a:solidFill>
                  </a:tcPr>
                </a:tc>
                <a:tc>
                  <a:txBody>
                    <a:bodyPr/>
                    <a:lstStyle/>
                    <a:p>
                      <a:pPr algn="ctr"/>
                      <a:r>
                        <a:rPr sz="1400" b="0" i="0">
                          <a:solidFill>
                            <a:srgbClr val="EB6834"/>
                          </a:solidFill>
                          <a:latin typeface="Calibri"/>
                        </a:rPr>
                        <a:t>0.950</a:t>
                      </a:r>
                    </a:p>
                  </a:txBody>
                  <a:tcPr marL="82296" marR="82296" marT="18288" marB="18288" anchor="ctr">
                    <a:solidFill>
                      <a:srgbClr val="EEF3FA"/>
                    </a:solidFill>
                  </a:tcPr>
                </a:tc>
              </a:tr>
              <a:tr h="361188">
                <a:tc>
                  <a:txBody>
                    <a:bodyPr/>
                    <a:lstStyle/>
                    <a:p>
                      <a:pPr algn="l"/>
                      <a:r>
                        <a:rPr sz="1400" b="0" i="0">
                          <a:solidFill>
                            <a:srgbClr val="16263F"/>
                          </a:solidFill>
                          <a:latin typeface="Calibri"/>
                        </a:rPr>
                        <a:t>Recall (support)</a:t>
                      </a:r>
                    </a:p>
                  </a:txBody>
                  <a:tcPr marL="82296" marR="82296" marT="18288" marB="18288" anchor="ctr">
                    <a:solidFill>
                      <a:srgbClr val="FFFFFF"/>
                    </a:solidFill>
                  </a:tcPr>
                </a:tc>
                <a:tc>
                  <a:txBody>
                    <a:bodyPr/>
                    <a:lstStyle/>
                    <a:p>
                      <a:pPr algn="ctr"/>
                      <a:r>
                        <a:rPr sz="1400" b="1" i="0">
                          <a:solidFill>
                            <a:srgbClr val="2A78D6"/>
                          </a:solidFill>
                          <a:latin typeface="Calibri"/>
                        </a:rPr>
                        <a:t>0.400</a:t>
                      </a:r>
                    </a:p>
                  </a:txBody>
                  <a:tcPr marL="82296" marR="82296" marT="18288" marB="18288" anchor="ctr">
                    <a:solidFill>
                      <a:srgbClr val="FFFFFF"/>
                    </a:solidFill>
                  </a:tcPr>
                </a:tc>
                <a:tc>
                  <a:txBody>
                    <a:bodyPr/>
                    <a:lstStyle/>
                    <a:p>
                      <a:pPr algn="ctr"/>
                      <a:r>
                        <a:rPr sz="1400" b="1" i="0">
                          <a:solidFill>
                            <a:srgbClr val="EB6834"/>
                          </a:solidFill>
                          <a:latin typeface="Calibri"/>
                        </a:rPr>
                        <a:t>1.000</a:t>
                      </a:r>
                    </a:p>
                  </a:txBody>
                  <a:tcPr marL="82296" marR="82296" marT="18288" marB="18288" anchor="ctr">
                    <a:solidFill>
                      <a:srgbClr val="FFFFFF"/>
                    </a:solidFill>
                  </a:tcPr>
                </a:tc>
              </a:tr>
              <a:tr h="361188">
                <a:tc>
                  <a:txBody>
                    <a:bodyPr/>
                    <a:lstStyle/>
                    <a:p>
                      <a:pPr algn="l"/>
                      <a:r>
                        <a:rPr sz="1400" b="0" i="0">
                          <a:solidFill>
                            <a:srgbClr val="16263F"/>
                          </a:solidFill>
                          <a:latin typeface="Calibri"/>
                        </a:rPr>
                        <a:t>Recall (sales)</a:t>
                      </a:r>
                    </a:p>
                  </a:txBody>
                  <a:tcPr marL="82296" marR="82296" marT="18288" marB="18288" anchor="ctr">
                    <a:solidFill>
                      <a:srgbClr val="EEF3FA"/>
                    </a:solidFill>
                  </a:tcPr>
                </a:tc>
                <a:tc>
                  <a:txBody>
                    <a:bodyPr/>
                    <a:lstStyle/>
                    <a:p>
                      <a:pPr algn="ctr"/>
                      <a:r>
                        <a:rPr sz="1400" b="0" i="0">
                          <a:solidFill>
                            <a:srgbClr val="2A78D6"/>
                          </a:solidFill>
                          <a:latin typeface="Calibri"/>
                        </a:rPr>
                        <a:t>0.800</a:t>
                      </a:r>
                    </a:p>
                  </a:txBody>
                  <a:tcPr marL="82296" marR="82296" marT="18288" marB="18288" anchor="ctr">
                    <a:solidFill>
                      <a:srgbClr val="EEF3FA"/>
                    </a:solidFill>
                  </a:tcPr>
                </a:tc>
                <a:tc>
                  <a:txBody>
                    <a:bodyPr/>
                    <a:lstStyle/>
                    <a:p>
                      <a:pPr algn="ctr"/>
                      <a:r>
                        <a:rPr sz="1400" b="0" i="0">
                          <a:solidFill>
                            <a:srgbClr val="EB6834"/>
                          </a:solidFill>
                          <a:latin typeface="Calibri"/>
                        </a:rPr>
                        <a:t>0.900</a:t>
                      </a:r>
                    </a:p>
                  </a:txBody>
                  <a:tcPr marL="82296" marR="82296" marT="18288" marB="18288" anchor="ctr">
                    <a:solidFill>
                      <a:srgbClr val="EEF3FA"/>
                    </a:solidFill>
                  </a:tcPr>
                </a:tc>
              </a:tr>
              <a:tr h="361188">
                <a:tc>
                  <a:txBody>
                    <a:bodyPr/>
                    <a:lstStyle/>
                    <a:p>
                      <a:pPr algn="l"/>
                      <a:r>
                        <a:rPr sz="1400" b="0" i="0">
                          <a:solidFill>
                            <a:srgbClr val="16263F"/>
                          </a:solidFill>
                          <a:latin typeface="Calibri"/>
                        </a:rPr>
                        <a:t>plain / negation / mixed</a:t>
                      </a:r>
                    </a:p>
                  </a:txBody>
                  <a:tcPr marL="82296" marR="82296" marT="18288" marB="18288" anchor="ctr">
                    <a:solidFill>
                      <a:srgbClr val="FFFFFF"/>
                    </a:solidFill>
                  </a:tcPr>
                </a:tc>
                <a:tc>
                  <a:txBody>
                    <a:bodyPr/>
                    <a:lstStyle/>
                    <a:p>
                      <a:pPr algn="ctr"/>
                      <a:r>
                        <a:rPr sz="1400" b="0" i="0">
                          <a:solidFill>
                            <a:srgbClr val="2A78D6"/>
                          </a:solidFill>
                          <a:latin typeface="Calibri"/>
                        </a:rPr>
                        <a:t>7/8, 3/8, 2/4</a:t>
                      </a:r>
                    </a:p>
                  </a:txBody>
                  <a:tcPr marL="82296" marR="82296" marT="18288" marB="18288" anchor="ctr">
                    <a:solidFill>
                      <a:srgbClr val="FFFFFF"/>
                    </a:solidFill>
                  </a:tcPr>
                </a:tc>
                <a:tc>
                  <a:txBody>
                    <a:bodyPr/>
                    <a:lstStyle/>
                    <a:p>
                      <a:pPr algn="ctr"/>
                      <a:r>
                        <a:rPr sz="1400" b="0" i="0">
                          <a:solidFill>
                            <a:srgbClr val="EB6834"/>
                          </a:solidFill>
                          <a:latin typeface="Calibri"/>
                        </a:rPr>
                        <a:t>8/8, 7/8, 4/4</a:t>
                      </a:r>
                    </a:p>
                  </a:txBody>
                  <a:tcPr marL="82296" marR="82296" marT="18288" marB="18288" anchor="ctr">
                    <a:solidFill>
                      <a:srgbClr val="FFFFFF"/>
                    </a:solidFill>
                  </a:tcPr>
                </a:tc>
              </a:tr>
              <a:tr h="361188">
                <a:tc>
                  <a:txBody>
                    <a:bodyPr/>
                    <a:lstStyle/>
                    <a:p>
                      <a:pPr algn="l"/>
                      <a:r>
                        <a:rPr sz="1400" b="0" i="0">
                          <a:solidFill>
                            <a:srgbClr val="16263F"/>
                          </a:solidFill>
                          <a:latin typeface="Calibri"/>
                        </a:rPr>
                        <a:t>Latency per message</a:t>
                      </a:r>
                    </a:p>
                  </a:txBody>
                  <a:tcPr marL="82296" marR="82296" marT="18288" marB="18288" anchor="ctr">
                    <a:solidFill>
                      <a:srgbClr val="EEF3FA"/>
                    </a:solidFill>
                  </a:tcPr>
                </a:tc>
                <a:tc>
                  <a:txBody>
                    <a:bodyPr/>
                    <a:lstStyle/>
                    <a:p>
                      <a:pPr algn="ctr"/>
                      <a:r>
                        <a:rPr sz="1400" b="0" i="0">
                          <a:solidFill>
                            <a:srgbClr val="2A78D6"/>
                          </a:solidFill>
                          <a:latin typeface="Calibri"/>
                        </a:rPr>
                        <a:t>0.06 ms</a:t>
                      </a:r>
                    </a:p>
                  </a:txBody>
                  <a:tcPr marL="82296" marR="82296" marT="18288" marB="18288" anchor="ctr">
                    <a:solidFill>
                      <a:srgbClr val="EEF3FA"/>
                    </a:solidFill>
                  </a:tcPr>
                </a:tc>
                <a:tc>
                  <a:txBody>
                    <a:bodyPr/>
                    <a:lstStyle/>
                    <a:p>
                      <a:pPr algn="ctr"/>
                      <a:r>
                        <a:rPr sz="1400" b="0" i="0">
                          <a:solidFill>
                            <a:srgbClr val="EB6834"/>
                          </a:solidFill>
                          <a:latin typeface="Calibri"/>
                        </a:rPr>
                        <a:t>546 ms</a:t>
                      </a:r>
                    </a:p>
                  </a:txBody>
                  <a:tcPr marL="82296" marR="82296" marT="18288" marB="18288" anchor="ctr">
                    <a:solidFill>
                      <a:srgbClr val="EEF3FA"/>
                    </a:solidFill>
                  </a:tcPr>
                </a:tc>
              </a:tr>
              <a:tr h="361188">
                <a:tc>
                  <a:txBody>
                    <a:bodyPr/>
                    <a:lstStyle/>
                    <a:p>
                      <a:pPr algn="l"/>
                      <a:r>
                        <a:rPr sz="1400" b="0" i="0">
                          <a:solidFill>
                            <a:srgbClr val="16263F"/>
                          </a:solidFill>
                          <a:latin typeface="Calibri"/>
                        </a:rPr>
                        <a:t>Labelled data needed</a:t>
                      </a:r>
                    </a:p>
                  </a:txBody>
                  <a:tcPr marL="82296" marR="82296" marT="18288" marB="18288" anchor="ctr">
                    <a:solidFill>
                      <a:srgbClr val="FFFFFF"/>
                    </a:solidFill>
                  </a:tcPr>
                </a:tc>
                <a:tc>
                  <a:txBody>
                    <a:bodyPr/>
                    <a:lstStyle/>
                    <a:p>
                      <a:pPr algn="ctr"/>
                      <a:r>
                        <a:rPr sz="1400" b="0" i="0">
                          <a:solidFill>
                            <a:srgbClr val="2A78D6"/>
                          </a:solidFill>
                          <a:latin typeface="Calibri"/>
                        </a:rPr>
                        <a:t>40 and still rising</a:t>
                      </a:r>
                    </a:p>
                  </a:txBody>
                  <a:tcPr marL="82296" marR="82296" marT="18288" marB="18288" anchor="ctr">
                    <a:solidFill>
                      <a:srgbClr val="FFFFFF"/>
                    </a:solidFill>
                  </a:tcPr>
                </a:tc>
                <a:tc>
                  <a:txBody>
                    <a:bodyPr/>
                    <a:lstStyle/>
                    <a:p>
                      <a:pPr algn="ctr"/>
                      <a:r>
                        <a:rPr sz="1400" b="0" i="0">
                          <a:solidFill>
                            <a:srgbClr val="EB6834"/>
                          </a:solidFill>
                          <a:latin typeface="Calibri"/>
                        </a:rPr>
                        <a:t>0</a:t>
                      </a:r>
                    </a:p>
                  </a:txBody>
                  <a:tcPr marL="82296" marR="82296" marT="18288" marB="18288" anchor="ctr">
                    <a:solidFill>
                      <a:srgbClr val="FFFFFF"/>
                    </a:solidFill>
                  </a:tcPr>
                </a:tc>
              </a:tr>
            </a:tbl>
          </a:graphicData>
        </a:graphic>
      </p:graphicFrame>
      <p:pic>
        <p:nvPicPr>
          <p:cNvPr id="5" name="Picture 4" descr="comparison_accuracy.png"/>
          <p:cNvPicPr>
            <a:picLocks noChangeAspect="1"/>
          </p:cNvPicPr>
          <p:nvPr/>
        </p:nvPicPr>
        <p:blipFill>
          <a:blip r:embed="rId2"/>
          <a:stretch>
            <a:fillRect/>
          </a:stretch>
        </p:blipFill>
        <p:spPr>
          <a:xfrm>
            <a:off x="6995159" y="1115568"/>
            <a:ext cx="4558833" cy="2999232"/>
          </a:xfrm>
          <a:prstGeom prst="rect">
            <a:avLst/>
          </a:prstGeom>
        </p:spPr>
      </p:pic>
      <p:sp>
        <p:nvSpPr>
          <p:cNvPr id="6" name="Oval 5"/>
          <p:cNvSpPr/>
          <p:nvPr/>
        </p:nvSpPr>
        <p:spPr>
          <a:xfrm>
            <a:off x="548640" y="4339843"/>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4279392"/>
            <a:ext cx="10820095" cy="452119"/>
          </a:xfrm>
          <a:prstGeom prst="rect">
            <a:avLst/>
          </a:prstGeom>
          <a:noFill/>
        </p:spPr>
        <p:txBody>
          <a:bodyPr wrap="square" lIns="0" rIns="0" tIns="0" bIns="0" anchor="t">
            <a:spAutoFit/>
          </a:bodyPr>
          <a:lstStyle/>
          <a:p>
            <a:pPr algn="l"/>
            <a:r>
              <a:rPr sz="1400" b="0" i="0">
                <a:solidFill>
                  <a:srgbClr val="16263F"/>
                </a:solidFill>
                <a:latin typeface="Calibri"/>
              </a:rPr>
              <a:t>The routers agree on 65% of test messages. Where they disagree, the decision model is right 7 times, the classifier 0. Exact McNemar p = 0.0156 -</a:t>
            </a:r>
          </a:p>
          <a:p>
            <a:pPr algn="l"/>
            <a:r>
              <a:rPr sz="1400" b="0" i="0">
                <a:solidFill>
                  <a:srgbClr val="16263F"/>
                </a:solidFill>
                <a:latin typeface="Calibri"/>
              </a:rPr>
              <a:t>significant, even at n = 20.</a:t>
            </a:r>
          </a:p>
        </p:txBody>
      </p:sp>
      <p:sp>
        <p:nvSpPr>
          <p:cNvPr id="8" name="Oval 7"/>
          <p:cNvSpPr/>
          <p:nvPr/>
        </p:nvSpPr>
        <p:spPr>
          <a:xfrm>
            <a:off x="548640" y="4919979"/>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4859527"/>
            <a:ext cx="10820095" cy="452119"/>
          </a:xfrm>
          <a:prstGeom prst="rect">
            <a:avLst/>
          </a:prstGeom>
          <a:noFill/>
        </p:spPr>
        <p:txBody>
          <a:bodyPr wrap="square" lIns="0" rIns="0" tIns="0" bIns="0" anchor="t">
            <a:spAutoFit/>
          </a:bodyPr>
          <a:lstStyle/>
          <a:p>
            <a:pPr algn="l"/>
            <a:r>
              <a:rPr sz="1400" b="0" i="0">
                <a:solidFill>
                  <a:srgbClr val="16263F"/>
                </a:solidFill>
                <a:latin typeface="Calibri"/>
              </a:rPr>
              <a:t>The error pattern: the classifier breaks on negation and mixed intent. "I did not order this upgrade, so why am I being billed for it?" - it sees upgrade,</a:t>
            </a:r>
          </a:p>
          <a:p>
            <a:pPr algn="l"/>
            <a:r>
              <a:rPr sz="1400" b="0" i="0">
                <a:solidFill>
                  <a:srgbClr val="16263F"/>
                </a:solidFill>
                <a:latin typeface="Calibri"/>
              </a:rPr>
              <a:t>order, '?' and routes to sales. The decision model reads the sentence and routes to support.</a:t>
            </a:r>
          </a:p>
        </p:txBody>
      </p:sp>
      <p:sp>
        <p:nvSpPr>
          <p:cNvPr id="10" name="Oval 9"/>
          <p:cNvSpPr/>
          <p:nvPr/>
        </p:nvSpPr>
        <p:spPr>
          <a:xfrm>
            <a:off x="548640" y="5500115"/>
            <a:ext cx="96012" cy="9601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5439663"/>
            <a:ext cx="10820095" cy="452119"/>
          </a:xfrm>
          <a:prstGeom prst="rect">
            <a:avLst/>
          </a:prstGeom>
          <a:noFill/>
        </p:spPr>
        <p:txBody>
          <a:bodyPr wrap="square" lIns="0" rIns="0" tIns="0" bIns="0" anchor="t">
            <a:spAutoFit/>
          </a:bodyPr>
          <a:lstStyle/>
          <a:p>
            <a:pPr algn="l"/>
            <a:r>
              <a:rPr sz="1400" b="0" i="0">
                <a:solidFill>
                  <a:srgbClr val="16263F"/>
                </a:solidFill>
                <a:latin typeface="Calibri"/>
              </a:rPr>
              <a:t>Fair to the classifier: the top six CV configurations score 0.60-0.75 on test, and the learning curve is still rising at 40 messages. It is not broken - it is</a:t>
            </a:r>
          </a:p>
          <a:p>
            <a:pPr algn="l"/>
            <a:r>
              <a:rPr sz="1400" b="0" i="0">
                <a:solidFill>
                  <a:srgbClr val="16263F"/>
                </a:solidFill>
                <a:latin typeface="Calibri"/>
              </a:rPr>
              <a:t>starved of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E33"/>
        </a:solidFill>
        <a:effectLst/>
      </p:bgPr>
    </p:bg>
    <p:spTree>
      <p:nvGrpSpPr>
        <p:cNvPr id="1" name=""/>
        <p:cNvGrpSpPr/>
        <p:nvPr/>
      </p:nvGrpSpPr>
      <p:grpSpPr/>
      <p:sp>
        <p:nvSpPr>
          <p:cNvPr id="2" name="TextBox 1"/>
          <p:cNvSpPr txBox="1"/>
          <p:nvPr/>
        </p:nvSpPr>
        <p:spPr>
          <a:xfrm>
            <a:off x="548640" y="420624"/>
            <a:ext cx="11094415" cy="566928"/>
          </a:xfrm>
          <a:prstGeom prst="rect">
            <a:avLst/>
          </a:prstGeom>
          <a:noFill/>
        </p:spPr>
        <p:txBody>
          <a:bodyPr wrap="square" lIns="0" rIns="0" tIns="0" bIns="0" anchor="t">
            <a:spAutoFit/>
          </a:bodyPr>
          <a:lstStyle/>
          <a:p>
            <a:pPr algn="l"/>
            <a:r>
              <a:rPr sz="3200" b="1" i="0">
                <a:solidFill>
                  <a:srgbClr val="FFFFFF"/>
                </a:solidFill>
                <a:latin typeface="Calibri"/>
              </a:rPr>
              <a:t>Recommendation for KIO</a:t>
            </a:r>
          </a:p>
        </p:txBody>
      </p:sp>
      <p:sp>
        <p:nvSpPr>
          <p:cNvPr id="3" name="Rounded Rectangle 2"/>
          <p:cNvSpPr/>
          <p:nvPr/>
        </p:nvSpPr>
        <p:spPr>
          <a:xfrm>
            <a:off x="10643057" y="457200"/>
            <a:ext cx="999998" cy="310896"/>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Student 3</a:t>
            </a:r>
          </a:p>
        </p:txBody>
      </p:sp>
      <p:sp>
        <p:nvSpPr>
          <p:cNvPr id="4" name="TextBox 3"/>
          <p:cNvSpPr txBox="1"/>
          <p:nvPr/>
        </p:nvSpPr>
        <p:spPr>
          <a:xfrm>
            <a:off x="548640" y="1188720"/>
            <a:ext cx="11094415" cy="731520"/>
          </a:xfrm>
          <a:prstGeom prst="rect">
            <a:avLst/>
          </a:prstGeom>
          <a:noFill/>
        </p:spPr>
        <p:txBody>
          <a:bodyPr wrap="square" lIns="0" rIns="0" tIns="0" bIns="0" anchor="t">
            <a:spAutoFit/>
          </a:bodyPr>
          <a:lstStyle/>
          <a:p>
            <a:pPr algn="l"/>
            <a:r>
              <a:rPr sz="4400" b="1" i="0">
                <a:solidFill>
                  <a:srgbClr val="FFFFFF"/>
                </a:solidFill>
                <a:latin typeface="Calibri"/>
              </a:rPr>
              <a:t>Deploy the decision model now</a:t>
            </a:r>
          </a:p>
        </p:txBody>
      </p:sp>
      <p:sp>
        <p:nvSpPr>
          <p:cNvPr id="5" name="Rounded Rectangle 4"/>
          <p:cNvSpPr/>
          <p:nvPr/>
        </p:nvSpPr>
        <p:spPr>
          <a:xfrm>
            <a:off x="548640" y="2066543"/>
            <a:ext cx="3478682" cy="1188720"/>
          </a:xfrm>
          <a:prstGeom prst="roundRect">
            <a:avLst/>
          </a:prstGeom>
          <a:solidFill>
            <a:srgbClr val="1C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76656" y="2212848"/>
            <a:ext cx="3222650" cy="457200"/>
          </a:xfrm>
          <a:prstGeom prst="rect">
            <a:avLst/>
          </a:prstGeom>
          <a:noFill/>
        </p:spPr>
        <p:txBody>
          <a:bodyPr wrap="square" lIns="0" rIns="0" tIns="0" bIns="0" anchor="t">
            <a:spAutoFit/>
          </a:bodyPr>
          <a:lstStyle/>
          <a:p>
            <a:pPr algn="ctr"/>
            <a:r>
              <a:rPr sz="2800" b="1" i="0">
                <a:solidFill>
                  <a:srgbClr val="EB6834"/>
                </a:solidFill>
                <a:latin typeface="Calibri"/>
              </a:rPr>
              <a:t>0.95 vs 0.60</a:t>
            </a:r>
          </a:p>
        </p:txBody>
      </p:sp>
      <p:sp>
        <p:nvSpPr>
          <p:cNvPr id="7" name="TextBox 6"/>
          <p:cNvSpPr txBox="1"/>
          <p:nvPr/>
        </p:nvSpPr>
        <p:spPr>
          <a:xfrm>
            <a:off x="676656" y="2743200"/>
            <a:ext cx="3222650" cy="402336"/>
          </a:xfrm>
          <a:prstGeom prst="rect">
            <a:avLst/>
          </a:prstGeom>
          <a:noFill/>
        </p:spPr>
        <p:txBody>
          <a:bodyPr wrap="square" lIns="0" rIns="0" tIns="0" bIns="0" anchor="t">
            <a:spAutoFit/>
          </a:bodyPr>
          <a:lstStyle/>
          <a:p>
            <a:pPr algn="ctr"/>
            <a:r>
              <a:rPr sz="1200" b="0" i="0">
                <a:solidFill>
                  <a:srgbClr val="B8C4D8"/>
                </a:solidFill>
                <a:latin typeface="Calibri"/>
              </a:rPr>
              <a:t>test accuracy against the classifier</a:t>
            </a:r>
          </a:p>
        </p:txBody>
      </p:sp>
      <p:sp>
        <p:nvSpPr>
          <p:cNvPr id="8" name="Rounded Rectangle 7"/>
          <p:cNvSpPr/>
          <p:nvPr/>
        </p:nvSpPr>
        <p:spPr>
          <a:xfrm>
            <a:off x="4356506" y="2066543"/>
            <a:ext cx="3478682" cy="1188720"/>
          </a:xfrm>
          <a:prstGeom prst="roundRect">
            <a:avLst/>
          </a:prstGeom>
          <a:solidFill>
            <a:srgbClr val="1C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84522" y="2212848"/>
            <a:ext cx="3222650" cy="457200"/>
          </a:xfrm>
          <a:prstGeom prst="rect">
            <a:avLst/>
          </a:prstGeom>
          <a:noFill/>
        </p:spPr>
        <p:txBody>
          <a:bodyPr wrap="square" lIns="0" rIns="0" tIns="0" bIns="0" anchor="t">
            <a:spAutoFit/>
          </a:bodyPr>
          <a:lstStyle/>
          <a:p>
            <a:pPr algn="ctr"/>
            <a:r>
              <a:rPr sz="2800" b="1" i="0">
                <a:solidFill>
                  <a:srgbClr val="FFFFFF"/>
                </a:solidFill>
                <a:latin typeface="Calibri"/>
              </a:rPr>
              <a:t>p = 0.0156</a:t>
            </a:r>
          </a:p>
        </p:txBody>
      </p:sp>
      <p:sp>
        <p:nvSpPr>
          <p:cNvPr id="10" name="TextBox 9"/>
          <p:cNvSpPr txBox="1"/>
          <p:nvPr/>
        </p:nvSpPr>
        <p:spPr>
          <a:xfrm>
            <a:off x="4484522" y="2743200"/>
            <a:ext cx="3222650" cy="402336"/>
          </a:xfrm>
          <a:prstGeom prst="rect">
            <a:avLst/>
          </a:prstGeom>
          <a:noFill/>
        </p:spPr>
        <p:txBody>
          <a:bodyPr wrap="square" lIns="0" rIns="0" tIns="0" bIns="0" anchor="t">
            <a:spAutoFit/>
          </a:bodyPr>
          <a:lstStyle/>
          <a:p>
            <a:pPr algn="ctr"/>
            <a:r>
              <a:rPr sz="1200" b="0" i="0">
                <a:solidFill>
                  <a:srgbClr val="B8C4D8"/>
                </a:solidFill>
                <a:latin typeface="Calibri"/>
              </a:rPr>
              <a:t>exact McNemar - the gap is real</a:t>
            </a:r>
          </a:p>
        </p:txBody>
      </p:sp>
      <p:sp>
        <p:nvSpPr>
          <p:cNvPr id="11" name="Rounded Rectangle 10"/>
          <p:cNvSpPr/>
          <p:nvPr/>
        </p:nvSpPr>
        <p:spPr>
          <a:xfrm>
            <a:off x="8164372" y="2066543"/>
            <a:ext cx="3478682" cy="1188720"/>
          </a:xfrm>
          <a:prstGeom prst="roundRect">
            <a:avLst/>
          </a:prstGeom>
          <a:solidFill>
            <a:srgbClr val="1C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92388" y="2212848"/>
            <a:ext cx="3222650" cy="457200"/>
          </a:xfrm>
          <a:prstGeom prst="rect">
            <a:avLst/>
          </a:prstGeom>
          <a:noFill/>
        </p:spPr>
        <p:txBody>
          <a:bodyPr wrap="square" lIns="0" rIns="0" tIns="0" bIns="0" anchor="t">
            <a:spAutoFit/>
          </a:bodyPr>
          <a:lstStyle/>
          <a:p>
            <a:pPr algn="ctr"/>
            <a:r>
              <a:rPr sz="2800" b="1" i="0">
                <a:solidFill>
                  <a:srgbClr val="EB6834"/>
                </a:solidFill>
                <a:latin typeface="Calibri"/>
              </a:rPr>
              <a:t>0</a:t>
            </a:r>
          </a:p>
        </p:txBody>
      </p:sp>
      <p:sp>
        <p:nvSpPr>
          <p:cNvPr id="13" name="TextBox 12"/>
          <p:cNvSpPr txBox="1"/>
          <p:nvPr/>
        </p:nvSpPr>
        <p:spPr>
          <a:xfrm>
            <a:off x="8292388" y="2743200"/>
            <a:ext cx="3222650" cy="402336"/>
          </a:xfrm>
          <a:prstGeom prst="rect">
            <a:avLst/>
          </a:prstGeom>
          <a:noFill/>
        </p:spPr>
        <p:txBody>
          <a:bodyPr wrap="square" lIns="0" rIns="0" tIns="0" bIns="0" anchor="t">
            <a:spAutoFit/>
          </a:bodyPr>
          <a:lstStyle/>
          <a:p>
            <a:pPr algn="ctr"/>
            <a:r>
              <a:rPr sz="1200" b="0" i="0">
                <a:solidFill>
                  <a:srgbClr val="B8C4D8"/>
                </a:solidFill>
                <a:latin typeface="Calibri"/>
              </a:rPr>
              <a:t>labelled examples it needed</a:t>
            </a:r>
          </a:p>
        </p:txBody>
      </p:sp>
      <p:sp>
        <p:nvSpPr>
          <p:cNvPr id="14" name="Oval 13"/>
          <p:cNvSpPr/>
          <p:nvPr/>
        </p:nvSpPr>
        <p:spPr>
          <a:xfrm>
            <a:off x="548640" y="3644899"/>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584448"/>
            <a:ext cx="10820095" cy="452119"/>
          </a:xfrm>
          <a:prstGeom prst="rect">
            <a:avLst/>
          </a:prstGeom>
          <a:noFill/>
        </p:spPr>
        <p:txBody>
          <a:bodyPr wrap="square" lIns="0" rIns="0" tIns="0" bIns="0" anchor="t">
            <a:spAutoFit/>
          </a:bodyPr>
          <a:lstStyle/>
          <a:p>
            <a:pPr algn="l"/>
            <a:r>
              <a:rPr sz="1400" b="0" i="0">
                <a:solidFill>
                  <a:srgbClr val="E6ECF6"/>
                </a:solidFill>
                <a:latin typeface="Calibri"/>
              </a:rPr>
              <a:t>Better where it matters, never misroutes a real problem in our test, needs no labelled data, and the wrapper makes the flag safe to use: typed</a:t>
            </a:r>
          </a:p>
          <a:p>
            <a:pPr algn="l"/>
            <a:r>
              <a:rPr sz="1400" b="0" i="0">
                <a:solidFill>
                  <a:srgbClr val="E6ECF6"/>
                </a:solidFill>
                <a:latin typeface="Calibri"/>
              </a:rPr>
              <a:t>output, confidence exposed, abstain -&gt; support.</a:t>
            </a:r>
          </a:p>
        </p:txBody>
      </p:sp>
      <p:sp>
        <p:nvSpPr>
          <p:cNvPr id="16" name="Oval 15"/>
          <p:cNvSpPr/>
          <p:nvPr/>
        </p:nvSpPr>
        <p:spPr>
          <a:xfrm>
            <a:off x="548640" y="4243324"/>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4182872"/>
            <a:ext cx="10820095" cy="452119"/>
          </a:xfrm>
          <a:prstGeom prst="rect">
            <a:avLst/>
          </a:prstGeom>
          <a:noFill/>
        </p:spPr>
        <p:txBody>
          <a:bodyPr wrap="square" lIns="0" rIns="0" tIns="0" bIns="0" anchor="t">
            <a:spAutoFit/>
          </a:bodyPr>
          <a:lstStyle/>
          <a:p>
            <a:pPr algn="l"/>
            <a:r>
              <a:rPr sz="1400" b="0" i="0">
                <a:solidFill>
                  <a:srgbClr val="E6ECF6"/>
                </a:solidFill>
                <a:latin typeface="Calibri"/>
              </a:rPr>
              <a:t>What we accept: 546 ms per message and 1.6 GB of memory; MIT-licensed and fully offline, so no per-call fee and no customer data leaves the</a:t>
            </a:r>
          </a:p>
          <a:p>
            <a:pPr algn="l"/>
            <a:r>
              <a:rPr sz="1400" b="0" i="0">
                <a:solidFill>
                  <a:srgbClr val="E6ECF6"/>
                </a:solidFill>
                <a:latin typeface="Calibri"/>
              </a:rPr>
              <a:t>machine. Instruction wording must be version-controlled - it is worth 20 points.</a:t>
            </a:r>
          </a:p>
        </p:txBody>
      </p:sp>
      <p:sp>
        <p:nvSpPr>
          <p:cNvPr id="18" name="Oval 17"/>
          <p:cNvSpPr/>
          <p:nvPr/>
        </p:nvSpPr>
        <p:spPr>
          <a:xfrm>
            <a:off x="548640" y="4841748"/>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781296"/>
            <a:ext cx="10820095" cy="452119"/>
          </a:xfrm>
          <a:prstGeom prst="rect">
            <a:avLst/>
          </a:prstGeom>
          <a:noFill/>
        </p:spPr>
        <p:txBody>
          <a:bodyPr wrap="square" lIns="0" rIns="0" tIns="0" bIns="0" anchor="t">
            <a:spAutoFit/>
          </a:bodyPr>
          <a:lstStyle/>
          <a:p>
            <a:pPr algn="l"/>
            <a:r>
              <a:rPr sz="1400" b="0" i="0">
                <a:solidFill>
                  <a:srgbClr val="E6ECF6"/>
                </a:solidFill>
                <a:latin typeface="Calibri"/>
              </a:rPr>
              <a:t>The path forward: log every decision with its confidence, let agents flag misroutes, and after a few thousand real labelled messages retrain the</a:t>
            </a:r>
          </a:p>
          <a:p>
            <a:pPr algn="l"/>
            <a:r>
              <a:rPr sz="1400" b="0" i="0">
                <a:solidFill>
                  <a:srgbClr val="E6ECF6"/>
                </a:solidFill>
                <a:latin typeface="Calibri"/>
              </a:rPr>
              <a:t>classifier on that log and re-run this exact comparison.</a:t>
            </a:r>
          </a:p>
        </p:txBody>
      </p:sp>
      <p:sp>
        <p:nvSpPr>
          <p:cNvPr id="20" name="Oval 19"/>
          <p:cNvSpPr/>
          <p:nvPr/>
        </p:nvSpPr>
        <p:spPr>
          <a:xfrm>
            <a:off x="548640" y="5440172"/>
            <a:ext cx="96012" cy="96012"/>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5379720"/>
            <a:ext cx="10820095" cy="452119"/>
          </a:xfrm>
          <a:prstGeom prst="rect">
            <a:avLst/>
          </a:prstGeom>
          <a:noFill/>
        </p:spPr>
        <p:txBody>
          <a:bodyPr wrap="square" lIns="0" rIns="0" tIns="0" bIns="0" anchor="t">
            <a:spAutoFit/>
          </a:bodyPr>
          <a:lstStyle/>
          <a:p>
            <a:pPr algn="l"/>
            <a:r>
              <a:rPr sz="1400" b="0" i="0">
                <a:solidFill>
                  <a:srgbClr val="E6ECF6"/>
                </a:solidFill>
                <a:latin typeface="Calibri"/>
              </a:rPr>
              <a:t>Caveat we state ourselves: 20 test messages is small - the same decision model scores 0.85 over all 60. The ranking is solid; the exact numbers would</a:t>
            </a:r>
          </a:p>
          <a:p>
            <a:pPr algn="l"/>
            <a:r>
              <a:rPr sz="1400" b="0" i="0">
                <a:solidFill>
                  <a:srgbClr val="E6ECF6"/>
                </a:solidFill>
                <a:latin typeface="Calibri"/>
              </a:rPr>
              <a:t>move on a larger set.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20624"/>
            <a:ext cx="11094415" cy="566928"/>
          </a:xfrm>
          <a:prstGeom prst="rect">
            <a:avLst/>
          </a:prstGeom>
          <a:noFill/>
        </p:spPr>
        <p:txBody>
          <a:bodyPr wrap="square" lIns="0" rIns="0" tIns="0" bIns="0" anchor="t">
            <a:spAutoFit/>
          </a:bodyPr>
          <a:lstStyle/>
          <a:p>
            <a:pPr algn="l"/>
            <a:r>
              <a:rPr sz="3200" b="1" i="0">
                <a:solidFill>
                  <a:srgbClr val="16263F"/>
                </a:solidFill>
                <a:latin typeface="Calibri"/>
              </a:rPr>
              <a:t>Sources</a:t>
            </a:r>
          </a:p>
        </p:txBody>
      </p:sp>
      <p:sp>
        <p:nvSpPr>
          <p:cNvPr id="3" name="Rounded Rectangle 2"/>
          <p:cNvSpPr/>
          <p:nvPr/>
        </p:nvSpPr>
        <p:spPr>
          <a:xfrm>
            <a:off x="10643057" y="457200"/>
            <a:ext cx="999998" cy="310896"/>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Student 3</a:t>
            </a:r>
          </a:p>
        </p:txBody>
      </p:sp>
      <p:sp>
        <p:nvSpPr>
          <p:cNvPr id="4" name="TextBox 3"/>
          <p:cNvSpPr txBox="1"/>
          <p:nvPr/>
        </p:nvSpPr>
        <p:spPr>
          <a:xfrm>
            <a:off x="822959" y="1225296"/>
            <a:ext cx="4952847" cy="235203"/>
          </a:xfrm>
          <a:prstGeom prst="rect">
            <a:avLst/>
          </a:prstGeom>
          <a:noFill/>
        </p:spPr>
        <p:txBody>
          <a:bodyPr wrap="square" lIns="0" rIns="0" tIns="0" bIns="0" anchor="t">
            <a:spAutoFit/>
          </a:bodyPr>
          <a:lstStyle/>
          <a:p>
            <a:pPr algn="l"/>
            <a:r>
              <a:rPr sz="1400" b="1" i="0">
                <a:solidFill>
                  <a:srgbClr val="16263F"/>
                </a:solidFill>
                <a:latin typeface="Calibri"/>
              </a:rPr>
              <a:t>Project 1 brief, Routing for Agent KIO</a:t>
            </a:r>
          </a:p>
        </p:txBody>
      </p:sp>
      <p:sp>
        <p:nvSpPr>
          <p:cNvPr id="5" name="Oval 4"/>
          <p:cNvSpPr/>
          <p:nvPr/>
        </p:nvSpPr>
        <p:spPr>
          <a:xfrm>
            <a:off x="548640" y="1288034"/>
            <a:ext cx="91440" cy="914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478788"/>
            <a:ext cx="4952847" cy="204216"/>
          </a:xfrm>
          <a:prstGeom prst="rect">
            <a:avLst/>
          </a:prstGeom>
          <a:noFill/>
        </p:spPr>
        <p:txBody>
          <a:bodyPr wrap="square" lIns="0" rIns="0" tIns="0" bIns="0" anchor="t">
            <a:spAutoFit/>
          </a:bodyPr>
          <a:lstStyle/>
          <a:p>
            <a:pPr algn="l"/>
            <a:r>
              <a:rPr sz="1200" b="0" i="0">
                <a:solidFill>
                  <a:srgbClr val="4A556B"/>
                </a:solidFill>
                <a:latin typeface="Calibri"/>
              </a:rPr>
              <a:t>the task, the flag convention and the dataset specification</a:t>
            </a:r>
          </a:p>
        </p:txBody>
      </p:sp>
      <p:sp>
        <p:nvSpPr>
          <p:cNvPr id="7" name="TextBox 6"/>
          <p:cNvSpPr txBox="1"/>
          <p:nvPr/>
        </p:nvSpPr>
        <p:spPr>
          <a:xfrm>
            <a:off x="822959" y="1939036"/>
            <a:ext cx="4952847" cy="235203"/>
          </a:xfrm>
          <a:prstGeom prst="rect">
            <a:avLst/>
          </a:prstGeom>
          <a:noFill/>
        </p:spPr>
        <p:txBody>
          <a:bodyPr wrap="square" lIns="0" rIns="0" tIns="0" bIns="0" anchor="t">
            <a:spAutoFit/>
          </a:bodyPr>
          <a:lstStyle/>
          <a:p>
            <a:pPr algn="l"/>
            <a:r>
              <a:rPr sz="1400" b="1" i="0">
                <a:solidFill>
                  <a:srgbClr val="16263F"/>
                </a:solidFill>
                <a:latin typeface="Calibri"/>
              </a:rPr>
              <a:t>facebook/bart-large-mnli model card, HuggingFace</a:t>
            </a:r>
          </a:p>
        </p:txBody>
      </p:sp>
      <p:sp>
        <p:nvSpPr>
          <p:cNvPr id="8" name="Oval 7"/>
          <p:cNvSpPr/>
          <p:nvPr/>
        </p:nvSpPr>
        <p:spPr>
          <a:xfrm>
            <a:off x="548640" y="2001774"/>
            <a:ext cx="91440" cy="914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192528"/>
            <a:ext cx="4952847" cy="204216"/>
          </a:xfrm>
          <a:prstGeom prst="rect">
            <a:avLst/>
          </a:prstGeom>
          <a:noFill/>
        </p:spPr>
        <p:txBody>
          <a:bodyPr wrap="square" lIns="0" rIns="0" tIns="0" bIns="0" anchor="t">
            <a:spAutoFit/>
          </a:bodyPr>
          <a:lstStyle/>
          <a:p>
            <a:pPr algn="l"/>
            <a:r>
              <a:rPr sz="1200" b="0" i="0">
                <a:solidFill>
                  <a:srgbClr val="4A556B"/>
                </a:solidFill>
                <a:latin typeface="Calibri"/>
              </a:rPr>
              <a:t>MIT license (weights); MultiNLI corpus under its own permissive terms</a:t>
            </a:r>
          </a:p>
        </p:txBody>
      </p:sp>
      <p:sp>
        <p:nvSpPr>
          <p:cNvPr id="10" name="TextBox 9"/>
          <p:cNvSpPr txBox="1"/>
          <p:nvPr/>
        </p:nvSpPr>
        <p:spPr>
          <a:xfrm>
            <a:off x="822959" y="2652776"/>
            <a:ext cx="4952847" cy="452119"/>
          </a:xfrm>
          <a:prstGeom prst="rect">
            <a:avLst/>
          </a:prstGeom>
          <a:noFill/>
        </p:spPr>
        <p:txBody>
          <a:bodyPr wrap="square" lIns="0" rIns="0" tIns="0" bIns="0" anchor="t">
            <a:spAutoFit/>
          </a:bodyPr>
          <a:lstStyle/>
          <a:p>
            <a:pPr algn="l"/>
            <a:r>
              <a:rPr sz="1400" b="1" i="0">
                <a:solidFill>
                  <a:srgbClr val="16263F"/>
                </a:solidFill>
                <a:latin typeface="Calibri"/>
              </a:rPr>
              <a:t>Yin, Hay &amp; Roth (2019), Benchmarking Zero-shot Text Classification: Datasets, Evaluation and Entailment Approach</a:t>
            </a:r>
          </a:p>
        </p:txBody>
      </p:sp>
      <p:sp>
        <p:nvSpPr>
          <p:cNvPr id="11" name="Oval 10"/>
          <p:cNvSpPr/>
          <p:nvPr/>
        </p:nvSpPr>
        <p:spPr>
          <a:xfrm>
            <a:off x="548640" y="2715514"/>
            <a:ext cx="91440" cy="914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123184"/>
            <a:ext cx="4952847" cy="204216"/>
          </a:xfrm>
          <a:prstGeom prst="rect">
            <a:avLst/>
          </a:prstGeom>
          <a:noFill/>
        </p:spPr>
        <p:txBody>
          <a:bodyPr wrap="square" lIns="0" rIns="0" tIns="0" bIns="0" anchor="t">
            <a:spAutoFit/>
          </a:bodyPr>
          <a:lstStyle/>
          <a:p>
            <a:pPr algn="l"/>
            <a:r>
              <a:rPr sz="1200" b="0" i="0">
                <a:solidFill>
                  <a:srgbClr val="4A556B"/>
                </a:solidFill>
                <a:latin typeface="Calibri"/>
              </a:rPr>
              <a:t>the NLI-as-zero-shot-classifier method we use</a:t>
            </a:r>
          </a:p>
        </p:txBody>
      </p:sp>
      <p:sp>
        <p:nvSpPr>
          <p:cNvPr id="13" name="TextBox 12"/>
          <p:cNvSpPr txBox="1"/>
          <p:nvPr/>
        </p:nvSpPr>
        <p:spPr>
          <a:xfrm>
            <a:off x="822959" y="3583432"/>
            <a:ext cx="4952847" cy="452119"/>
          </a:xfrm>
          <a:prstGeom prst="rect">
            <a:avLst/>
          </a:prstGeom>
          <a:noFill/>
        </p:spPr>
        <p:txBody>
          <a:bodyPr wrap="square" lIns="0" rIns="0" tIns="0" bIns="0" anchor="t">
            <a:spAutoFit/>
          </a:bodyPr>
          <a:lstStyle/>
          <a:p>
            <a:pPr algn="l"/>
            <a:r>
              <a:rPr sz="1400" b="1" i="0">
                <a:solidFill>
                  <a:srgbClr val="16263F"/>
                </a:solidFill>
                <a:latin typeface="Calibri"/>
              </a:rPr>
              <a:t>Williams, Nangia &amp; Bowman (2018), A Broad-Coverage Challenge Corpus for Sentence Understanding through Inference</a:t>
            </a:r>
          </a:p>
        </p:txBody>
      </p:sp>
      <p:sp>
        <p:nvSpPr>
          <p:cNvPr id="14" name="Oval 13"/>
          <p:cNvSpPr/>
          <p:nvPr/>
        </p:nvSpPr>
        <p:spPr>
          <a:xfrm>
            <a:off x="548640" y="3646170"/>
            <a:ext cx="91440" cy="914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053839"/>
            <a:ext cx="4952847" cy="204216"/>
          </a:xfrm>
          <a:prstGeom prst="rect">
            <a:avLst/>
          </a:prstGeom>
          <a:noFill/>
        </p:spPr>
        <p:txBody>
          <a:bodyPr wrap="square" lIns="0" rIns="0" tIns="0" bIns="0" anchor="t">
            <a:spAutoFit/>
          </a:bodyPr>
          <a:lstStyle/>
          <a:p>
            <a:pPr algn="l"/>
            <a:r>
              <a:rPr sz="1200" b="0" i="0">
                <a:solidFill>
                  <a:srgbClr val="4A556B"/>
                </a:solidFill>
                <a:latin typeface="Calibri"/>
              </a:rPr>
              <a:t>MultiNLI, the corpus the model was fine-tuned on</a:t>
            </a:r>
          </a:p>
        </p:txBody>
      </p:sp>
      <p:sp>
        <p:nvSpPr>
          <p:cNvPr id="16" name="TextBox 15"/>
          <p:cNvSpPr txBox="1"/>
          <p:nvPr/>
        </p:nvSpPr>
        <p:spPr>
          <a:xfrm>
            <a:off x="6690207" y="1225296"/>
            <a:ext cx="4952847" cy="452119"/>
          </a:xfrm>
          <a:prstGeom prst="rect">
            <a:avLst/>
          </a:prstGeom>
          <a:noFill/>
        </p:spPr>
        <p:txBody>
          <a:bodyPr wrap="square" lIns="0" rIns="0" tIns="0" bIns="0" anchor="t">
            <a:spAutoFit/>
          </a:bodyPr>
          <a:lstStyle/>
          <a:p>
            <a:pPr algn="l"/>
            <a:r>
              <a:rPr sz="1400" b="1" i="0">
                <a:solidFill>
                  <a:srgbClr val="16263F"/>
                </a:solidFill>
                <a:latin typeface="Calibri"/>
              </a:rPr>
              <a:t>Dietterich (1998), Approximate statistical tests for comparing supervised classification learning algorithms</a:t>
            </a:r>
          </a:p>
        </p:txBody>
      </p:sp>
      <p:sp>
        <p:nvSpPr>
          <p:cNvPr id="17" name="Oval 16"/>
          <p:cNvSpPr/>
          <p:nvPr/>
        </p:nvSpPr>
        <p:spPr>
          <a:xfrm>
            <a:off x="6415887" y="1288034"/>
            <a:ext cx="91440" cy="914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1695704"/>
            <a:ext cx="4952847" cy="204216"/>
          </a:xfrm>
          <a:prstGeom prst="rect">
            <a:avLst/>
          </a:prstGeom>
          <a:noFill/>
        </p:spPr>
        <p:txBody>
          <a:bodyPr wrap="square" lIns="0" rIns="0" tIns="0" bIns="0" anchor="t">
            <a:spAutoFit/>
          </a:bodyPr>
          <a:lstStyle/>
          <a:p>
            <a:pPr algn="l"/>
            <a:r>
              <a:rPr sz="1200" b="0" i="0">
                <a:solidFill>
                  <a:srgbClr val="4A556B"/>
                </a:solidFill>
                <a:latin typeface="Calibri"/>
              </a:rPr>
              <a:t>McNemar's test for paired comparison</a:t>
            </a:r>
          </a:p>
        </p:txBody>
      </p:sp>
      <p:sp>
        <p:nvSpPr>
          <p:cNvPr id="19" name="TextBox 18"/>
          <p:cNvSpPr txBox="1"/>
          <p:nvPr/>
        </p:nvSpPr>
        <p:spPr>
          <a:xfrm>
            <a:off x="6690207" y="2155952"/>
            <a:ext cx="4952847" cy="235203"/>
          </a:xfrm>
          <a:prstGeom prst="rect">
            <a:avLst/>
          </a:prstGeom>
          <a:noFill/>
        </p:spPr>
        <p:txBody>
          <a:bodyPr wrap="square" lIns="0" rIns="0" tIns="0" bIns="0" anchor="t">
            <a:spAutoFit/>
          </a:bodyPr>
          <a:lstStyle/>
          <a:p>
            <a:pPr algn="l"/>
            <a:r>
              <a:rPr sz="1400" b="1" i="0">
                <a:solidFill>
                  <a:srgbClr val="16263F"/>
                </a:solidFill>
                <a:latin typeface="Calibri"/>
              </a:rPr>
              <a:t>Software</a:t>
            </a:r>
          </a:p>
        </p:txBody>
      </p:sp>
      <p:sp>
        <p:nvSpPr>
          <p:cNvPr id="20" name="Oval 19"/>
          <p:cNvSpPr/>
          <p:nvPr/>
        </p:nvSpPr>
        <p:spPr>
          <a:xfrm>
            <a:off x="6415887" y="2218690"/>
            <a:ext cx="91440" cy="914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0207" y="2409444"/>
            <a:ext cx="4952847" cy="390144"/>
          </a:xfrm>
          <a:prstGeom prst="rect">
            <a:avLst/>
          </a:prstGeom>
          <a:noFill/>
        </p:spPr>
        <p:txBody>
          <a:bodyPr wrap="square" lIns="0" rIns="0" tIns="0" bIns="0" anchor="t">
            <a:spAutoFit/>
          </a:bodyPr>
          <a:lstStyle/>
          <a:p>
            <a:pPr algn="l"/>
            <a:r>
              <a:rPr sz="1200" b="0" i="0">
                <a:solidFill>
                  <a:srgbClr val="4A556B"/>
                </a:solidFill>
                <a:latin typeface="Calibri"/>
              </a:rPr>
              <a:t>scikit-learn 1.9.1, transformers 5.20.1, torch 2.14.1+cpu, pandas 3.0.6, matplotlib 3.11.2, seaborn 0.13.2, scipy 1.18.1, Python 3.12.10</a:t>
            </a:r>
          </a:p>
        </p:txBody>
      </p:sp>
      <p:sp>
        <p:nvSpPr>
          <p:cNvPr id="22" name="TextBox 21"/>
          <p:cNvSpPr txBox="1"/>
          <p:nvPr/>
        </p:nvSpPr>
        <p:spPr>
          <a:xfrm>
            <a:off x="6690207" y="3055620"/>
            <a:ext cx="4952847" cy="235203"/>
          </a:xfrm>
          <a:prstGeom prst="rect">
            <a:avLst/>
          </a:prstGeom>
          <a:noFill/>
        </p:spPr>
        <p:txBody>
          <a:bodyPr wrap="square" lIns="0" rIns="0" tIns="0" bIns="0" anchor="t">
            <a:spAutoFit/>
          </a:bodyPr>
          <a:lstStyle/>
          <a:p>
            <a:pPr algn="l"/>
            <a:r>
              <a:rPr sz="1400" b="1" i="0">
                <a:solidFill>
                  <a:srgbClr val="16263F"/>
                </a:solidFill>
                <a:latin typeface="Calibri"/>
              </a:rPr>
              <a:t>All code, data and saved results</a:t>
            </a:r>
          </a:p>
        </p:txBody>
      </p:sp>
      <p:sp>
        <p:nvSpPr>
          <p:cNvPr id="23" name="Oval 22"/>
          <p:cNvSpPr/>
          <p:nvPr/>
        </p:nvSpPr>
        <p:spPr>
          <a:xfrm>
            <a:off x="6415887" y="3118358"/>
            <a:ext cx="91440" cy="914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90207" y="3309112"/>
            <a:ext cx="4952847" cy="204216"/>
          </a:xfrm>
          <a:prstGeom prst="rect">
            <a:avLst/>
          </a:prstGeom>
          <a:noFill/>
        </p:spPr>
        <p:txBody>
          <a:bodyPr wrap="square" lIns="0" rIns="0" tIns="0" bIns="0" anchor="t">
            <a:spAutoFit/>
          </a:bodyPr>
          <a:lstStyle/>
          <a:p>
            <a:pPr algn="l"/>
            <a:r>
              <a:rPr sz="1200" b="0" i="0">
                <a:solidFill>
                  <a:srgbClr val="4A556B"/>
                </a:solidFill>
                <a:latin typeface="Calibri"/>
              </a:rPr>
              <a:t>the project repository (src/, data/, results/, REPORT.md)</a:t>
            </a:r>
          </a:p>
        </p:txBody>
      </p:sp>
      <p:sp>
        <p:nvSpPr>
          <p:cNvPr id="25" name="TextBox 24"/>
          <p:cNvSpPr txBox="1"/>
          <p:nvPr/>
        </p:nvSpPr>
        <p:spPr>
          <a:xfrm>
            <a:off x="6690207" y="3769360"/>
            <a:ext cx="4952847" cy="235203"/>
          </a:xfrm>
          <a:prstGeom prst="rect">
            <a:avLst/>
          </a:prstGeom>
          <a:noFill/>
        </p:spPr>
        <p:txBody>
          <a:bodyPr wrap="square" lIns="0" rIns="0" tIns="0" bIns="0" anchor="t">
            <a:spAutoFit/>
          </a:bodyPr>
          <a:lstStyle/>
          <a:p>
            <a:pPr algn="l"/>
            <a:r>
              <a:rPr sz="1400" b="1" i="0">
                <a:solidFill>
                  <a:srgbClr val="16263F"/>
                </a:solidFill>
                <a:latin typeface="Calibri"/>
              </a:rPr>
              <a:t>Dataset</a:t>
            </a:r>
          </a:p>
        </p:txBody>
      </p:sp>
      <p:sp>
        <p:nvSpPr>
          <p:cNvPr id="26" name="Oval 25"/>
          <p:cNvSpPr/>
          <p:nvPr/>
        </p:nvSpPr>
        <p:spPr>
          <a:xfrm>
            <a:off x="6415887" y="3832098"/>
            <a:ext cx="91440" cy="914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0207" y="4022852"/>
            <a:ext cx="4952847" cy="204216"/>
          </a:xfrm>
          <a:prstGeom prst="rect">
            <a:avLst/>
          </a:prstGeom>
          <a:noFill/>
        </p:spPr>
        <p:txBody>
          <a:bodyPr wrap="square" lIns="0" rIns="0" tIns="0" bIns="0" anchor="t">
            <a:spAutoFit/>
          </a:bodyPr>
          <a:lstStyle/>
          <a:p>
            <a:pPr algn="l"/>
            <a:r>
              <a:rPr sz="1200" b="0" i="0">
                <a:solidFill>
                  <a:srgbClr val="4A556B"/>
                </a:solidFill>
                <a:latin typeface="Calibri"/>
              </a:rPr>
              <a:t>60 messages written by our team for this project, synthetic, no customer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